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h6gEymndmIbTn2nSAYJz6nZMM7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customschemas.google.com/relationships/presentationmetadata" Target="metadata"/><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We are presenting SIMplify — a web application we built to solve a common problem on the SIM campus: finding a place to study. SIMplify gives students real-time visibility into which study spots are available, lets them check in with a QR code, earn points, and find study partners.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SIM, students routinely waste time walking between floors and buildings just to find an empty seat. There is zero real-time information about how full a study area is. Students studying the same module have no easy way to find each other, and there is no mechanism driving engagement with campus spaces.</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SIMplify has six major features split into two groups. The real-time data side includes an interactive SVG campus map with live color-coded pins, QR-based check-in that auto-updates occupancy, and automatic status calculation. The engagement side includes a full gamification engine with points and levels, a study buddy finder for module-based groups, and a rewards store with location reviews.</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frontend runs on Next.js 16 with React 19 and TypeScript. The backend is entirely Supabase, giving us PostgreSQL, auth, and real-time subscriptions. We follow MVC with 12 typed database tables. Auth is enforced at the Edge with 3 access tiers. Key decisions: SVG map for indoor plans at zero cost, Supabase for speed of development, and CSS-variable-based auto dark mode.</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key highlights: full-stack TypeScript with zero any types, automatic occupancy that needs no admin intervention, a gesture-rich SVG map, a complete gamification system with atomic point operations, timezone-based auto dark mode, and accessible components built on Radix UI.</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for your time. SIMplify was built to make campus life at SIM more efficient and engaging. We're happy to take any questions about the features, technical decisions, or development process.</a:t>
            </a:r>
            <a:endParaRPr/>
          </a:p>
        </p:txBody>
      </p:sp>
      <p:sp>
        <p:nvSpPr>
          <p:cNvPr id="160" name="Google Shape;1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0.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B966"/>
        </a:solidFill>
      </p:bgPr>
    </p:bg>
    <p:spTree>
      <p:nvGrpSpPr>
        <p:cNvPr id="15" name="Shape 15"/>
        <p:cNvGrpSpPr/>
        <p:nvPr/>
      </p:nvGrpSpPr>
      <p:grpSpPr>
        <a:xfrm>
          <a:off x="0" y="0"/>
          <a:ext cx="0" cy="0"/>
          <a:chOff x="0" y="0"/>
          <a:chExt cx="0" cy="0"/>
        </a:xfrm>
      </p:grpSpPr>
      <p:sp>
        <p:nvSpPr>
          <p:cNvPr id="16" name="Google Shape;16;p1"/>
          <p:cNvSpPr/>
          <p:nvPr/>
        </p:nvSpPr>
        <p:spPr>
          <a:xfrm>
            <a:off x="0" y="4663440"/>
            <a:ext cx="9144000" cy="36576"/>
          </a:xfrm>
          <a:prstGeom prst="rect">
            <a:avLst/>
          </a:prstGeom>
          <a:solidFill>
            <a:srgbClr val="B3D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31520" y="914400"/>
            <a:ext cx="76809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D2D5"/>
              </a:buClr>
              <a:buSzPts val="5400"/>
              <a:buFont typeface="Calibri"/>
              <a:buNone/>
            </a:pPr>
            <a:r>
              <a:rPr b="1" i="0" lang="en-US" sz="5400" u="none" cap="none" strike="noStrike">
                <a:solidFill>
                  <a:srgbClr val="3D322D"/>
                </a:solidFill>
                <a:latin typeface="Calibri"/>
                <a:ea typeface="Calibri"/>
                <a:cs typeface="Calibri"/>
                <a:sym typeface="Calibri"/>
              </a:rPr>
              <a:t>SIMplify</a:t>
            </a:r>
            <a:endParaRPr b="0" i="0" sz="5400" u="none" cap="none" strike="noStrike">
              <a:solidFill>
                <a:srgbClr val="3D322D"/>
              </a:solidFill>
              <a:latin typeface="Calibri"/>
              <a:ea typeface="Calibri"/>
              <a:cs typeface="Calibri"/>
              <a:sym typeface="Calibri"/>
            </a:endParaRPr>
          </a:p>
        </p:txBody>
      </p:sp>
      <p:sp>
        <p:nvSpPr>
          <p:cNvPr id="18" name="Google Shape;18;p1"/>
          <p:cNvSpPr/>
          <p:nvPr/>
        </p:nvSpPr>
        <p:spPr>
          <a:xfrm>
            <a:off x="731520" y="2103120"/>
            <a:ext cx="7680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1" lang="en-US" sz="2200" u="none" cap="none" strike="noStrike">
                <a:solidFill>
                  <a:srgbClr val="FFFFFF"/>
                </a:solidFill>
                <a:latin typeface="Calibri"/>
                <a:ea typeface="Calibri"/>
                <a:cs typeface="Calibri"/>
                <a:sym typeface="Calibri"/>
              </a:rPr>
              <a:t>Find your spot. Earn your streak.</a:t>
            </a:r>
            <a:endParaRPr b="1" i="0" sz="2200" u="none" cap="none" strike="noStrike">
              <a:solidFill>
                <a:schemeClr val="dk1"/>
              </a:solidFill>
              <a:latin typeface="Calibri"/>
              <a:ea typeface="Calibri"/>
              <a:cs typeface="Calibri"/>
              <a:sym typeface="Calibri"/>
            </a:endParaRPr>
          </a:p>
        </p:txBody>
      </p:sp>
      <p:sp>
        <p:nvSpPr>
          <p:cNvPr id="19" name="Google Shape;19;p1"/>
          <p:cNvSpPr/>
          <p:nvPr/>
        </p:nvSpPr>
        <p:spPr>
          <a:xfrm>
            <a:off x="731520" y="2834640"/>
            <a:ext cx="7680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D7E"/>
              </a:buClr>
              <a:buSzPts val="1600"/>
              <a:buFont typeface="Calibri"/>
              <a:buNone/>
            </a:pPr>
            <a:r>
              <a:rPr b="1" i="0" lang="en-US" sz="1600" u="none" cap="none" strike="noStrike">
                <a:solidFill>
                  <a:schemeClr val="dk1"/>
                </a:solidFill>
                <a:latin typeface="Calibri"/>
                <a:ea typeface="Calibri"/>
                <a:cs typeface="Calibri"/>
                <a:sym typeface="Calibri"/>
              </a:rPr>
              <a:t>A Real-Time Campus Study Spot Finder for SIM Students</a:t>
            </a:r>
            <a:endParaRPr b="1" i="0" sz="1600" u="none" cap="none" strike="noStrike">
              <a:solidFill>
                <a:schemeClr val="dk1"/>
              </a:solidFill>
              <a:latin typeface="Calibri"/>
              <a:ea typeface="Calibri"/>
              <a:cs typeface="Calibri"/>
              <a:sym typeface="Calibri"/>
            </a:endParaRPr>
          </a:p>
        </p:txBody>
      </p:sp>
      <p:sp>
        <p:nvSpPr>
          <p:cNvPr id="20" name="Google Shape;20;p1"/>
          <p:cNvSpPr/>
          <p:nvPr/>
        </p:nvSpPr>
        <p:spPr>
          <a:xfrm>
            <a:off x="-79375" y="4663450"/>
            <a:ext cx="9415800" cy="49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sp>
        <p:nvSpPr>
          <p:cNvPr id="21" name="Google Shape;21;p1"/>
          <p:cNvSpPr/>
          <p:nvPr/>
        </p:nvSpPr>
        <p:spPr>
          <a:xfrm>
            <a:off x="659745" y="4727510"/>
            <a:ext cx="7680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8"/>
              </a:buClr>
              <a:buSzPts val="1100"/>
              <a:buFont typeface="Calibri"/>
              <a:buNone/>
            </a:pPr>
            <a:r>
              <a:rPr b="0" i="0" lang="en-US" sz="1100" u="none" cap="none" strike="noStrike">
                <a:solidFill>
                  <a:srgbClr val="1E2A38"/>
                </a:solidFill>
                <a:latin typeface="Calibri"/>
                <a:ea typeface="Calibri"/>
                <a:cs typeface="Calibri"/>
                <a:sym typeface="Calibri"/>
              </a:rPr>
              <a:t>IT Club Internal Project </a:t>
            </a:r>
            <a:r>
              <a:rPr lang="en-US" sz="1100">
                <a:solidFill>
                  <a:srgbClr val="1E2A38"/>
                </a:solidFill>
                <a:latin typeface="Calibri"/>
                <a:ea typeface="Calibri"/>
                <a:cs typeface="Calibri"/>
                <a:sym typeface="Calibri"/>
              </a:rPr>
              <a:t>|</a:t>
            </a:r>
            <a:r>
              <a:rPr b="0" i="0" lang="en-US" sz="1100" u="none" cap="none" strike="noStrike">
                <a:solidFill>
                  <a:srgbClr val="1E2A38"/>
                </a:solidFill>
                <a:latin typeface="Calibri"/>
                <a:ea typeface="Calibri"/>
                <a:cs typeface="Calibri"/>
                <a:sym typeface="Calibri"/>
              </a:rPr>
              <a:t>  Singapore Institute of Management</a:t>
            </a:r>
            <a:endParaRPr b="0" i="0" sz="1100" u="none" cap="none" strike="noStrike">
              <a:solidFill>
                <a:schemeClr val="dk1"/>
              </a:solidFill>
              <a:latin typeface="Calibri"/>
              <a:ea typeface="Calibri"/>
              <a:cs typeface="Calibri"/>
              <a:sym typeface="Calibri"/>
            </a:endParaRPr>
          </a:p>
        </p:txBody>
      </p:sp>
      <p:sp>
        <p:nvSpPr>
          <p:cNvPr id="22" name="Google Shape;22;p1"/>
          <p:cNvSpPr/>
          <p:nvPr/>
        </p:nvSpPr>
        <p:spPr>
          <a:xfrm>
            <a:off x="5530650" y="733525"/>
            <a:ext cx="3447000" cy="33864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1" title="SIMplify_logo_light.png"/>
          <p:cNvPicPr preferRelativeResize="0"/>
          <p:nvPr/>
        </p:nvPicPr>
        <p:blipFill>
          <a:blip r:embed="rId3">
            <a:alphaModFix/>
          </a:blip>
          <a:stretch>
            <a:fillRect/>
          </a:stretch>
        </p:blipFill>
        <p:spPr>
          <a:xfrm>
            <a:off x="5751279" y="1146679"/>
            <a:ext cx="3005750" cy="2461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493F"/>
        </a:solidFill>
      </p:bgPr>
    </p:bg>
    <p:spTree>
      <p:nvGrpSpPr>
        <p:cNvPr id="28" name="Shape 28"/>
        <p:cNvGrpSpPr/>
        <p:nvPr/>
      </p:nvGrpSpPr>
      <p:grpSpPr>
        <a:xfrm>
          <a:off x="0" y="0"/>
          <a:ext cx="0" cy="0"/>
          <a:chOff x="0" y="0"/>
          <a:chExt cx="0" cy="0"/>
        </a:xfrm>
      </p:grpSpPr>
      <p:sp>
        <p:nvSpPr>
          <p:cNvPr id="29" name="Google Shape;29;p2"/>
          <p:cNvSpPr/>
          <p:nvPr/>
        </p:nvSpPr>
        <p:spPr>
          <a:xfrm>
            <a:off x="731520" y="36576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3600"/>
              <a:buFont typeface="Calibri"/>
              <a:buNone/>
            </a:pPr>
            <a:r>
              <a:rPr b="1" i="0" lang="en-US" sz="3600" u="none" cap="none" strike="noStrike">
                <a:solidFill>
                  <a:schemeClr val="lt1"/>
                </a:solidFill>
                <a:latin typeface="Calibri"/>
                <a:ea typeface="Calibri"/>
                <a:cs typeface="Calibri"/>
                <a:sym typeface="Calibri"/>
              </a:rPr>
              <a:t>The Problem Highlights</a:t>
            </a:r>
            <a:endParaRPr b="0" i="0" sz="3600" u="none" cap="none" strike="noStrike">
              <a:solidFill>
                <a:schemeClr val="lt1"/>
              </a:solidFill>
              <a:latin typeface="Calibri"/>
              <a:ea typeface="Calibri"/>
              <a:cs typeface="Calibri"/>
              <a:sym typeface="Calibri"/>
            </a:endParaRPr>
          </a:p>
        </p:txBody>
      </p:sp>
      <p:sp>
        <p:nvSpPr>
          <p:cNvPr id="30" name="Google Shape;30;p2"/>
          <p:cNvSpPr/>
          <p:nvPr/>
        </p:nvSpPr>
        <p:spPr>
          <a:xfrm>
            <a:off x="731520" y="1371600"/>
            <a:ext cx="3749040" cy="150876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731520" y="1371600"/>
            <a:ext cx="54864" cy="1508760"/>
          </a:xfrm>
          <a:prstGeom prst="rect">
            <a:avLst/>
          </a:prstGeom>
          <a:solidFill>
            <a:srgbClr val="E598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005840" y="1691640"/>
            <a:ext cx="640080" cy="640080"/>
          </a:xfrm>
          <a:prstGeom prst="ellipse">
            <a:avLst/>
          </a:prstGeom>
          <a:solidFill>
            <a:srgbClr val="E598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2"/>
          <p:cNvPicPr preferRelativeResize="0"/>
          <p:nvPr/>
        </p:nvPicPr>
        <p:blipFill rotWithShape="1">
          <a:blip r:embed="rId3">
            <a:alphaModFix/>
          </a:blip>
          <a:srcRect b="0" l="0" r="0" t="0"/>
          <a:stretch/>
        </p:blipFill>
        <p:spPr>
          <a:xfrm>
            <a:off x="1143000" y="1828800"/>
            <a:ext cx="365760" cy="365760"/>
          </a:xfrm>
          <a:prstGeom prst="rect">
            <a:avLst/>
          </a:prstGeom>
          <a:noFill/>
          <a:ln>
            <a:noFill/>
          </a:ln>
        </p:spPr>
      </p:pic>
      <p:sp>
        <p:nvSpPr>
          <p:cNvPr id="34" name="Google Shape;34;p2"/>
          <p:cNvSpPr/>
          <p:nvPr/>
        </p:nvSpPr>
        <p:spPr>
          <a:xfrm>
            <a:off x="1828800" y="1554480"/>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500"/>
              <a:buFont typeface="Calibri"/>
              <a:buNone/>
            </a:pPr>
            <a:r>
              <a:rPr b="1" i="0" lang="en-US" sz="1500" u="none" cap="none" strike="noStrike">
                <a:solidFill>
                  <a:srgbClr val="2C3E50"/>
                </a:solidFill>
                <a:latin typeface="Calibri"/>
                <a:ea typeface="Calibri"/>
                <a:cs typeface="Calibri"/>
                <a:sym typeface="Calibri"/>
              </a:rPr>
              <a:t>No Real-Time Visibility</a:t>
            </a:r>
            <a:endParaRPr b="0" i="0" sz="1500" u="none" cap="none" strike="noStrike">
              <a:solidFill>
                <a:schemeClr val="dk1"/>
              </a:solidFill>
              <a:latin typeface="Calibri"/>
              <a:ea typeface="Calibri"/>
              <a:cs typeface="Calibri"/>
              <a:sym typeface="Calibri"/>
            </a:endParaRPr>
          </a:p>
        </p:txBody>
      </p:sp>
      <p:sp>
        <p:nvSpPr>
          <p:cNvPr id="35" name="Google Shape;35;p2"/>
          <p:cNvSpPr/>
          <p:nvPr/>
        </p:nvSpPr>
        <p:spPr>
          <a:xfrm>
            <a:off x="1828800" y="2011680"/>
            <a:ext cx="23774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200"/>
              <a:buFont typeface="Calibri"/>
              <a:buNone/>
            </a:pPr>
            <a:r>
              <a:rPr b="0" i="0" lang="en-US" sz="1200" u="none" cap="none" strike="noStrike">
                <a:solidFill>
                  <a:srgbClr val="5D6D7E"/>
                </a:solidFill>
                <a:latin typeface="Calibri"/>
                <a:ea typeface="Calibri"/>
                <a:cs typeface="Calibri"/>
                <a:sym typeface="Calibri"/>
              </a:rPr>
              <a:t>Students walk floor to floor searching for free study spots</a:t>
            </a:r>
            <a:endParaRPr b="0" i="0" sz="1200" u="none" cap="none" strike="noStrike">
              <a:solidFill>
                <a:schemeClr val="dk1"/>
              </a:solidFill>
              <a:latin typeface="Calibri"/>
              <a:ea typeface="Calibri"/>
              <a:cs typeface="Calibri"/>
              <a:sym typeface="Calibri"/>
            </a:endParaRPr>
          </a:p>
        </p:txBody>
      </p:sp>
      <p:sp>
        <p:nvSpPr>
          <p:cNvPr id="36" name="Google Shape;36;p2"/>
          <p:cNvSpPr/>
          <p:nvPr/>
        </p:nvSpPr>
        <p:spPr>
          <a:xfrm>
            <a:off x="4754880" y="1371600"/>
            <a:ext cx="3749040" cy="150876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754880" y="1371600"/>
            <a:ext cx="54864" cy="1508760"/>
          </a:xfrm>
          <a:prstGeom prst="rect">
            <a:avLst/>
          </a:prstGeom>
          <a:solidFill>
            <a:srgbClr val="E2C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029200" y="1691640"/>
            <a:ext cx="640080" cy="640080"/>
          </a:xfrm>
          <a:prstGeom prst="ellipse">
            <a:avLst/>
          </a:prstGeom>
          <a:solidFill>
            <a:srgbClr val="E2C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 name="Google Shape;39;p2"/>
          <p:cNvPicPr preferRelativeResize="0"/>
          <p:nvPr/>
        </p:nvPicPr>
        <p:blipFill rotWithShape="1">
          <a:blip r:embed="rId4">
            <a:alphaModFix/>
          </a:blip>
          <a:srcRect b="0" l="0" r="0" t="0"/>
          <a:stretch/>
        </p:blipFill>
        <p:spPr>
          <a:xfrm>
            <a:off x="5166360" y="1828800"/>
            <a:ext cx="365760" cy="365760"/>
          </a:xfrm>
          <a:prstGeom prst="rect">
            <a:avLst/>
          </a:prstGeom>
          <a:noFill/>
          <a:ln>
            <a:noFill/>
          </a:ln>
        </p:spPr>
      </p:pic>
      <p:sp>
        <p:nvSpPr>
          <p:cNvPr id="40" name="Google Shape;40;p2"/>
          <p:cNvSpPr/>
          <p:nvPr/>
        </p:nvSpPr>
        <p:spPr>
          <a:xfrm>
            <a:off x="5852160" y="1554480"/>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500"/>
              <a:buFont typeface="Calibri"/>
              <a:buNone/>
            </a:pPr>
            <a:r>
              <a:rPr b="1" i="0" lang="en-US" sz="1500" u="none" cap="none" strike="noStrike">
                <a:solidFill>
                  <a:srgbClr val="2C3E50"/>
                </a:solidFill>
                <a:latin typeface="Calibri"/>
                <a:ea typeface="Calibri"/>
                <a:cs typeface="Calibri"/>
                <a:sym typeface="Calibri"/>
              </a:rPr>
              <a:t>Peak-Hour Guesswork</a:t>
            </a:r>
            <a:endParaRPr b="0" i="0" sz="1500" u="none" cap="none" strike="noStrike">
              <a:solidFill>
                <a:schemeClr val="dk1"/>
              </a:solidFill>
              <a:latin typeface="Calibri"/>
              <a:ea typeface="Calibri"/>
              <a:cs typeface="Calibri"/>
              <a:sym typeface="Calibri"/>
            </a:endParaRPr>
          </a:p>
        </p:txBody>
      </p:sp>
      <p:sp>
        <p:nvSpPr>
          <p:cNvPr id="41" name="Google Shape;41;p2"/>
          <p:cNvSpPr/>
          <p:nvPr/>
        </p:nvSpPr>
        <p:spPr>
          <a:xfrm>
            <a:off x="5852160" y="2011680"/>
            <a:ext cx="23774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200"/>
              <a:buFont typeface="Calibri"/>
              <a:buNone/>
            </a:pPr>
            <a:r>
              <a:rPr b="0" i="0" lang="en-US" sz="1200" u="none" cap="none" strike="noStrike">
                <a:solidFill>
                  <a:srgbClr val="5D6D7E"/>
                </a:solidFill>
                <a:latin typeface="Calibri"/>
                <a:ea typeface="Calibri"/>
                <a:cs typeface="Calibri"/>
                <a:sym typeface="Calibri"/>
              </a:rPr>
              <a:t>No way to know how crowded a location is before going there</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731520" y="3154680"/>
            <a:ext cx="3749040" cy="150876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31520" y="3154680"/>
            <a:ext cx="54864" cy="1508760"/>
          </a:xfrm>
          <a:prstGeom prst="rect">
            <a:avLst/>
          </a:prstGeom>
          <a:solidFill>
            <a:srgbClr val="B3D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005840" y="3474720"/>
            <a:ext cx="640080" cy="640080"/>
          </a:xfrm>
          <a:prstGeom prst="ellipse">
            <a:avLst/>
          </a:prstGeom>
          <a:solidFill>
            <a:srgbClr val="B3D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
          <p:cNvPicPr preferRelativeResize="0"/>
          <p:nvPr/>
        </p:nvPicPr>
        <p:blipFill rotWithShape="1">
          <a:blip r:embed="rId5">
            <a:alphaModFix/>
          </a:blip>
          <a:srcRect b="0" l="0" r="0" t="0"/>
          <a:stretch/>
        </p:blipFill>
        <p:spPr>
          <a:xfrm>
            <a:off x="1143000" y="3611880"/>
            <a:ext cx="365760" cy="365760"/>
          </a:xfrm>
          <a:prstGeom prst="rect">
            <a:avLst/>
          </a:prstGeom>
          <a:noFill/>
          <a:ln>
            <a:noFill/>
          </a:ln>
        </p:spPr>
      </p:pic>
      <p:sp>
        <p:nvSpPr>
          <p:cNvPr id="46" name="Google Shape;46;p2"/>
          <p:cNvSpPr/>
          <p:nvPr/>
        </p:nvSpPr>
        <p:spPr>
          <a:xfrm>
            <a:off x="1828800" y="3337560"/>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500"/>
              <a:buFont typeface="Calibri"/>
              <a:buNone/>
            </a:pPr>
            <a:r>
              <a:rPr b="1" i="0" lang="en-US" sz="1500" u="none" cap="none" strike="noStrike">
                <a:solidFill>
                  <a:srgbClr val="2C3E50"/>
                </a:solidFill>
                <a:latin typeface="Calibri"/>
                <a:ea typeface="Calibri"/>
                <a:cs typeface="Calibri"/>
                <a:sym typeface="Calibri"/>
              </a:rPr>
              <a:t>Isolated Studying</a:t>
            </a:r>
            <a:endParaRPr b="0" i="0" sz="1500" u="none" cap="none" strike="noStrike">
              <a:solidFill>
                <a:schemeClr val="dk1"/>
              </a:solidFill>
              <a:latin typeface="Calibri"/>
              <a:ea typeface="Calibri"/>
              <a:cs typeface="Calibri"/>
              <a:sym typeface="Calibri"/>
            </a:endParaRPr>
          </a:p>
        </p:txBody>
      </p:sp>
      <p:sp>
        <p:nvSpPr>
          <p:cNvPr id="47" name="Google Shape;47;p2"/>
          <p:cNvSpPr/>
          <p:nvPr/>
        </p:nvSpPr>
        <p:spPr>
          <a:xfrm>
            <a:off x="1828800" y="3794760"/>
            <a:ext cx="23774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200"/>
              <a:buFont typeface="Calibri"/>
              <a:buNone/>
            </a:pPr>
            <a:r>
              <a:rPr b="0" i="0" lang="en-US" sz="1200" u="none" cap="none" strike="noStrike">
                <a:solidFill>
                  <a:srgbClr val="5D6D7E"/>
                </a:solidFill>
                <a:latin typeface="Calibri"/>
                <a:ea typeface="Calibri"/>
                <a:cs typeface="Calibri"/>
                <a:sym typeface="Calibri"/>
              </a:rPr>
              <a:t>No easy way to find classmates studying the same module nearby</a:t>
            </a:r>
            <a:endParaRPr b="0" i="0" sz="1200" u="none" cap="none" strike="noStrike">
              <a:solidFill>
                <a:schemeClr val="dk1"/>
              </a:solidFill>
              <a:latin typeface="Calibri"/>
              <a:ea typeface="Calibri"/>
              <a:cs typeface="Calibri"/>
              <a:sym typeface="Calibri"/>
            </a:endParaRPr>
          </a:p>
        </p:txBody>
      </p:sp>
      <p:sp>
        <p:nvSpPr>
          <p:cNvPr id="48" name="Google Shape;48;p2"/>
          <p:cNvSpPr/>
          <p:nvPr/>
        </p:nvSpPr>
        <p:spPr>
          <a:xfrm>
            <a:off x="4754880" y="3154680"/>
            <a:ext cx="3749040" cy="150876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754880" y="3154680"/>
            <a:ext cx="54864" cy="1508760"/>
          </a:xfrm>
          <a:prstGeom prst="rect">
            <a:avLst/>
          </a:prstGeom>
          <a:solidFill>
            <a:srgbClr val="5D6D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029200" y="3474720"/>
            <a:ext cx="640080" cy="640080"/>
          </a:xfrm>
          <a:prstGeom prst="ellipse">
            <a:avLst/>
          </a:prstGeom>
          <a:solidFill>
            <a:srgbClr val="5D6D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2"/>
          <p:cNvPicPr preferRelativeResize="0"/>
          <p:nvPr/>
        </p:nvPicPr>
        <p:blipFill rotWithShape="1">
          <a:blip r:embed="rId6">
            <a:alphaModFix/>
          </a:blip>
          <a:srcRect b="0" l="0" r="0" t="0"/>
          <a:stretch/>
        </p:blipFill>
        <p:spPr>
          <a:xfrm>
            <a:off x="5166360" y="3611880"/>
            <a:ext cx="365760" cy="365760"/>
          </a:xfrm>
          <a:prstGeom prst="rect">
            <a:avLst/>
          </a:prstGeom>
          <a:noFill/>
          <a:ln>
            <a:noFill/>
          </a:ln>
        </p:spPr>
      </p:pic>
      <p:sp>
        <p:nvSpPr>
          <p:cNvPr id="52" name="Google Shape;52;p2"/>
          <p:cNvSpPr/>
          <p:nvPr/>
        </p:nvSpPr>
        <p:spPr>
          <a:xfrm>
            <a:off x="5852160" y="3337560"/>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500"/>
              <a:buFont typeface="Calibri"/>
              <a:buNone/>
            </a:pPr>
            <a:r>
              <a:rPr b="1" i="0" lang="en-US" sz="1500" u="none" cap="none" strike="noStrike">
                <a:solidFill>
                  <a:srgbClr val="2C3E50"/>
                </a:solidFill>
                <a:latin typeface="Calibri"/>
                <a:ea typeface="Calibri"/>
                <a:cs typeface="Calibri"/>
                <a:sym typeface="Calibri"/>
              </a:rPr>
              <a:t>Low Campus Engagement</a:t>
            </a:r>
            <a:endParaRPr b="0" i="0" sz="1500" u="none" cap="none" strike="noStrike">
              <a:solidFill>
                <a:schemeClr val="dk1"/>
              </a:solidFill>
              <a:latin typeface="Calibri"/>
              <a:ea typeface="Calibri"/>
              <a:cs typeface="Calibri"/>
              <a:sym typeface="Calibri"/>
            </a:endParaRPr>
          </a:p>
        </p:txBody>
      </p:sp>
      <p:sp>
        <p:nvSpPr>
          <p:cNvPr id="53" name="Google Shape;53;p2"/>
          <p:cNvSpPr/>
          <p:nvPr/>
        </p:nvSpPr>
        <p:spPr>
          <a:xfrm>
            <a:off x="5852160" y="3794760"/>
            <a:ext cx="23774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200"/>
              <a:buFont typeface="Calibri"/>
              <a:buNone/>
            </a:pPr>
            <a:r>
              <a:rPr b="0" i="0" lang="en-US" sz="1200" u="none" cap="none" strike="noStrike">
                <a:solidFill>
                  <a:srgbClr val="5D6D7E"/>
                </a:solidFill>
                <a:latin typeface="Calibri"/>
                <a:ea typeface="Calibri"/>
                <a:cs typeface="Calibri"/>
                <a:sym typeface="Calibri"/>
              </a:rPr>
              <a:t>Little incentive to explore different study areas or campus life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493F"/>
        </a:solidFill>
      </p:bgPr>
    </p:bg>
    <p:spTree>
      <p:nvGrpSpPr>
        <p:cNvPr id="58" name="Shape 58"/>
        <p:cNvGrpSpPr/>
        <p:nvPr/>
      </p:nvGrpSpPr>
      <p:grpSpPr>
        <a:xfrm>
          <a:off x="0" y="0"/>
          <a:ext cx="0" cy="0"/>
          <a:chOff x="0" y="0"/>
          <a:chExt cx="0" cy="0"/>
        </a:xfrm>
      </p:grpSpPr>
      <p:sp>
        <p:nvSpPr>
          <p:cNvPr id="59" name="Google Shape;59;p3"/>
          <p:cNvSpPr/>
          <p:nvPr/>
        </p:nvSpPr>
        <p:spPr>
          <a:xfrm>
            <a:off x="731520" y="36576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3600"/>
              <a:buFont typeface="Calibri"/>
              <a:buNone/>
            </a:pPr>
            <a:r>
              <a:rPr b="1" i="0" lang="en-US" sz="3600" u="none" cap="none" strike="noStrike">
                <a:solidFill>
                  <a:schemeClr val="lt1"/>
                </a:solidFill>
                <a:latin typeface="Calibri"/>
                <a:ea typeface="Calibri"/>
                <a:cs typeface="Calibri"/>
                <a:sym typeface="Calibri"/>
              </a:rPr>
              <a:t>Our Solution</a:t>
            </a:r>
            <a:endParaRPr b="1" i="0" sz="3600" u="none" cap="none" strike="noStrike">
              <a:solidFill>
                <a:schemeClr val="lt1"/>
              </a:solidFill>
              <a:latin typeface="Calibri"/>
              <a:ea typeface="Calibri"/>
              <a:cs typeface="Calibri"/>
              <a:sym typeface="Calibri"/>
            </a:endParaRPr>
          </a:p>
        </p:txBody>
      </p:sp>
      <p:sp>
        <p:nvSpPr>
          <p:cNvPr id="60" name="Google Shape;60;p3"/>
          <p:cNvSpPr/>
          <p:nvPr/>
        </p:nvSpPr>
        <p:spPr>
          <a:xfrm>
            <a:off x="731520" y="1005840"/>
            <a:ext cx="3749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AFB4"/>
              </a:buClr>
              <a:buSzPts val="1600"/>
              <a:buFont typeface="Calibri"/>
              <a:buNone/>
            </a:pPr>
            <a:r>
              <a:rPr b="1" i="0" lang="en-US" sz="1600" u="none" cap="none" strike="noStrike">
                <a:solidFill>
                  <a:srgbClr val="FFD966"/>
                </a:solidFill>
                <a:latin typeface="Calibri"/>
                <a:ea typeface="Calibri"/>
                <a:cs typeface="Calibri"/>
                <a:sym typeface="Calibri"/>
              </a:rPr>
              <a:t>Real-Time Campus Data</a:t>
            </a:r>
            <a:endParaRPr b="0" i="0" sz="1600" u="none" cap="none" strike="noStrike">
              <a:solidFill>
                <a:srgbClr val="FFD966"/>
              </a:solidFill>
              <a:latin typeface="Calibri"/>
              <a:ea typeface="Calibri"/>
              <a:cs typeface="Calibri"/>
              <a:sym typeface="Calibri"/>
            </a:endParaRPr>
          </a:p>
        </p:txBody>
      </p:sp>
      <p:sp>
        <p:nvSpPr>
          <p:cNvPr id="61" name="Google Shape;61;p3"/>
          <p:cNvSpPr/>
          <p:nvPr/>
        </p:nvSpPr>
        <p:spPr>
          <a:xfrm>
            <a:off x="4754880" y="1005840"/>
            <a:ext cx="3749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AFB4"/>
              </a:buClr>
              <a:buSzPts val="1600"/>
              <a:buFont typeface="Calibri"/>
              <a:buNone/>
            </a:pPr>
            <a:r>
              <a:rPr b="1" i="0" lang="en-US" sz="1600" u="none" cap="none" strike="noStrike">
                <a:solidFill>
                  <a:srgbClr val="FFD966"/>
                </a:solidFill>
                <a:latin typeface="Calibri"/>
                <a:ea typeface="Calibri"/>
                <a:cs typeface="Calibri"/>
                <a:sym typeface="Calibri"/>
              </a:rPr>
              <a:t>Community &amp; Gamification</a:t>
            </a:r>
            <a:endParaRPr b="0" i="0" sz="1600" u="none" cap="none" strike="noStrike">
              <a:solidFill>
                <a:srgbClr val="FFD966"/>
              </a:solidFill>
              <a:latin typeface="Calibri"/>
              <a:ea typeface="Calibri"/>
              <a:cs typeface="Calibri"/>
              <a:sym typeface="Calibri"/>
            </a:endParaRPr>
          </a:p>
        </p:txBody>
      </p:sp>
      <p:sp>
        <p:nvSpPr>
          <p:cNvPr id="62" name="Google Shape;62;p3"/>
          <p:cNvSpPr/>
          <p:nvPr/>
        </p:nvSpPr>
        <p:spPr>
          <a:xfrm>
            <a:off x="731520" y="1508760"/>
            <a:ext cx="3749100" cy="10059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914400" y="1691640"/>
            <a:ext cx="548700" cy="548700"/>
          </a:xfrm>
          <a:prstGeom prst="ellipse">
            <a:avLst/>
          </a:prstGeom>
          <a:solidFill>
            <a:srgbClr val="7BC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3"/>
          <p:cNvPicPr preferRelativeResize="0"/>
          <p:nvPr/>
        </p:nvPicPr>
        <p:blipFill rotWithShape="1">
          <a:blip r:embed="rId3">
            <a:alphaModFix/>
          </a:blip>
          <a:srcRect b="0" l="0" r="0" t="0"/>
          <a:stretch/>
        </p:blipFill>
        <p:spPr>
          <a:xfrm>
            <a:off x="1033272" y="1810512"/>
            <a:ext cx="320040" cy="320040"/>
          </a:xfrm>
          <a:prstGeom prst="rect">
            <a:avLst/>
          </a:prstGeom>
          <a:noFill/>
          <a:ln>
            <a:noFill/>
          </a:ln>
        </p:spPr>
      </p:pic>
      <p:sp>
        <p:nvSpPr>
          <p:cNvPr id="65" name="Google Shape;65;p3"/>
          <p:cNvSpPr/>
          <p:nvPr/>
        </p:nvSpPr>
        <p:spPr>
          <a:xfrm>
            <a:off x="1645920" y="1600200"/>
            <a:ext cx="2651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400"/>
              <a:buFont typeface="Calibri"/>
              <a:buNone/>
            </a:pPr>
            <a:r>
              <a:rPr b="1" i="0" lang="en-US" sz="1400" u="none" cap="none" strike="noStrike">
                <a:solidFill>
                  <a:srgbClr val="2C3E50"/>
                </a:solidFill>
                <a:latin typeface="Calibri"/>
                <a:ea typeface="Calibri"/>
                <a:cs typeface="Calibri"/>
                <a:sym typeface="Calibri"/>
              </a:rPr>
              <a:t>Interactive Campus Map</a:t>
            </a:r>
            <a:endParaRPr b="0" i="0" sz="1400" u="none" cap="none" strike="noStrike">
              <a:solidFill>
                <a:schemeClr val="dk1"/>
              </a:solidFill>
              <a:latin typeface="Calibri"/>
              <a:ea typeface="Calibri"/>
              <a:cs typeface="Calibri"/>
              <a:sym typeface="Calibri"/>
            </a:endParaRPr>
          </a:p>
        </p:txBody>
      </p:sp>
      <p:sp>
        <p:nvSpPr>
          <p:cNvPr id="66" name="Google Shape;66;p3"/>
          <p:cNvSpPr/>
          <p:nvPr/>
        </p:nvSpPr>
        <p:spPr>
          <a:xfrm>
            <a:off x="1645920" y="1965960"/>
            <a:ext cx="26517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SVG floor plan with color-coded pins (green/yellow/red), drag &amp; pinch-to-zoom</a:t>
            </a:r>
            <a:endParaRPr b="0" i="0" sz="1100" u="none" cap="none" strike="noStrike">
              <a:solidFill>
                <a:schemeClr val="dk1"/>
              </a:solidFill>
              <a:latin typeface="Calibri"/>
              <a:ea typeface="Calibri"/>
              <a:cs typeface="Calibri"/>
              <a:sym typeface="Calibri"/>
            </a:endParaRPr>
          </a:p>
        </p:txBody>
      </p:sp>
      <p:sp>
        <p:nvSpPr>
          <p:cNvPr id="67" name="Google Shape;67;p3"/>
          <p:cNvSpPr/>
          <p:nvPr/>
        </p:nvSpPr>
        <p:spPr>
          <a:xfrm>
            <a:off x="731520" y="2651760"/>
            <a:ext cx="3749100" cy="10059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914400" y="2834640"/>
            <a:ext cx="548700" cy="548700"/>
          </a:xfrm>
          <a:prstGeom prst="ellipse">
            <a:avLst/>
          </a:prstGeom>
          <a:solidFill>
            <a:srgbClr val="B3D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3"/>
          <p:cNvPicPr preferRelativeResize="0"/>
          <p:nvPr/>
        </p:nvPicPr>
        <p:blipFill rotWithShape="1">
          <a:blip r:embed="rId4">
            <a:alphaModFix/>
          </a:blip>
          <a:srcRect b="0" l="0" r="0" t="0"/>
          <a:stretch/>
        </p:blipFill>
        <p:spPr>
          <a:xfrm>
            <a:off x="1033272" y="2953512"/>
            <a:ext cx="320040" cy="320040"/>
          </a:xfrm>
          <a:prstGeom prst="rect">
            <a:avLst/>
          </a:prstGeom>
          <a:noFill/>
          <a:ln>
            <a:noFill/>
          </a:ln>
        </p:spPr>
      </p:pic>
      <p:sp>
        <p:nvSpPr>
          <p:cNvPr id="70" name="Google Shape;70;p3"/>
          <p:cNvSpPr/>
          <p:nvPr/>
        </p:nvSpPr>
        <p:spPr>
          <a:xfrm>
            <a:off x="1645920" y="2743200"/>
            <a:ext cx="2651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400"/>
              <a:buFont typeface="Calibri"/>
              <a:buNone/>
            </a:pPr>
            <a:r>
              <a:rPr b="1" i="0" lang="en-US" sz="1400" u="none" cap="none" strike="noStrike">
                <a:solidFill>
                  <a:srgbClr val="2C3E50"/>
                </a:solidFill>
                <a:latin typeface="Calibri"/>
                <a:ea typeface="Calibri"/>
                <a:cs typeface="Calibri"/>
                <a:sym typeface="Calibri"/>
              </a:rPr>
              <a:t>QR Check-In / Check-Out</a:t>
            </a:r>
            <a:endParaRPr b="0" i="0" sz="1400" u="none" cap="none" strike="noStrike">
              <a:solidFill>
                <a:schemeClr val="dk1"/>
              </a:solidFill>
              <a:latin typeface="Calibri"/>
              <a:ea typeface="Calibri"/>
              <a:cs typeface="Calibri"/>
              <a:sym typeface="Calibri"/>
            </a:endParaRPr>
          </a:p>
        </p:txBody>
      </p:sp>
      <p:sp>
        <p:nvSpPr>
          <p:cNvPr id="71" name="Google Shape;71;p3"/>
          <p:cNvSpPr/>
          <p:nvPr/>
        </p:nvSpPr>
        <p:spPr>
          <a:xfrm>
            <a:off x="1645920" y="3108960"/>
            <a:ext cx="26517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Scan QR at any location, auto-updates occupancy in real time</a:t>
            </a:r>
            <a:endParaRPr b="0" i="0" sz="1100" u="none" cap="none" strike="noStrike">
              <a:solidFill>
                <a:schemeClr val="dk1"/>
              </a:solidFill>
              <a:latin typeface="Calibri"/>
              <a:ea typeface="Calibri"/>
              <a:cs typeface="Calibri"/>
              <a:sym typeface="Calibri"/>
            </a:endParaRPr>
          </a:p>
        </p:txBody>
      </p:sp>
      <p:sp>
        <p:nvSpPr>
          <p:cNvPr id="72" name="Google Shape;72;p3"/>
          <p:cNvSpPr/>
          <p:nvPr/>
        </p:nvSpPr>
        <p:spPr>
          <a:xfrm>
            <a:off x="731520" y="3794760"/>
            <a:ext cx="3749100" cy="10059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914400" y="3977640"/>
            <a:ext cx="548700" cy="548700"/>
          </a:xfrm>
          <a:prstGeom prst="ellipse">
            <a:avLst/>
          </a:prstGeom>
          <a:solidFill>
            <a:srgbClr val="E2C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 name="Google Shape;74;p3"/>
          <p:cNvPicPr preferRelativeResize="0"/>
          <p:nvPr/>
        </p:nvPicPr>
        <p:blipFill rotWithShape="1">
          <a:blip r:embed="rId5">
            <a:alphaModFix/>
          </a:blip>
          <a:srcRect b="0" l="0" r="0" t="0"/>
          <a:stretch/>
        </p:blipFill>
        <p:spPr>
          <a:xfrm>
            <a:off x="1033272" y="4096512"/>
            <a:ext cx="320040" cy="320040"/>
          </a:xfrm>
          <a:prstGeom prst="rect">
            <a:avLst/>
          </a:prstGeom>
          <a:noFill/>
          <a:ln>
            <a:noFill/>
          </a:ln>
        </p:spPr>
      </p:pic>
      <p:sp>
        <p:nvSpPr>
          <p:cNvPr id="75" name="Google Shape;75;p3"/>
          <p:cNvSpPr/>
          <p:nvPr/>
        </p:nvSpPr>
        <p:spPr>
          <a:xfrm>
            <a:off x="1645920" y="3886200"/>
            <a:ext cx="2651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400"/>
              <a:buFont typeface="Calibri"/>
              <a:buNone/>
            </a:pPr>
            <a:r>
              <a:rPr b="1" i="0" lang="en-US" sz="1400" u="none" cap="none" strike="noStrike">
                <a:solidFill>
                  <a:srgbClr val="2C3E50"/>
                </a:solidFill>
                <a:latin typeface="Calibri"/>
                <a:ea typeface="Calibri"/>
                <a:cs typeface="Calibri"/>
                <a:sym typeface="Calibri"/>
              </a:rPr>
              <a:t>Real-Time Occupancy</a:t>
            </a:r>
            <a:endParaRPr b="0" i="0" sz="1400" u="none" cap="none" strike="noStrike">
              <a:solidFill>
                <a:schemeClr val="dk1"/>
              </a:solidFill>
              <a:latin typeface="Calibri"/>
              <a:ea typeface="Calibri"/>
              <a:cs typeface="Calibri"/>
              <a:sym typeface="Calibri"/>
            </a:endParaRPr>
          </a:p>
        </p:txBody>
      </p:sp>
      <p:sp>
        <p:nvSpPr>
          <p:cNvPr id="76" name="Google Shape;76;p3"/>
          <p:cNvSpPr/>
          <p:nvPr/>
        </p:nvSpPr>
        <p:spPr>
          <a:xfrm>
            <a:off x="1645920" y="4251960"/>
            <a:ext cx="26517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Status auto-calculated from active sessions vs. total seats</a:t>
            </a:r>
            <a:endParaRPr b="0" i="0" sz="1100" u="none" cap="none" strike="noStrike">
              <a:solidFill>
                <a:schemeClr val="dk1"/>
              </a:solidFill>
              <a:latin typeface="Calibri"/>
              <a:ea typeface="Calibri"/>
              <a:cs typeface="Calibri"/>
              <a:sym typeface="Calibri"/>
            </a:endParaRPr>
          </a:p>
        </p:txBody>
      </p:sp>
      <p:sp>
        <p:nvSpPr>
          <p:cNvPr id="77" name="Google Shape;77;p3"/>
          <p:cNvSpPr/>
          <p:nvPr/>
        </p:nvSpPr>
        <p:spPr>
          <a:xfrm>
            <a:off x="4754880" y="1508760"/>
            <a:ext cx="3749100" cy="10059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4937760" y="1691640"/>
            <a:ext cx="548700" cy="548700"/>
          </a:xfrm>
          <a:prstGeom prst="ellipse">
            <a:avLst/>
          </a:prstGeom>
          <a:solidFill>
            <a:srgbClr val="E2C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3"/>
          <p:cNvPicPr preferRelativeResize="0"/>
          <p:nvPr/>
        </p:nvPicPr>
        <p:blipFill rotWithShape="1">
          <a:blip r:embed="rId6">
            <a:alphaModFix/>
          </a:blip>
          <a:srcRect b="0" l="0" r="0" t="0"/>
          <a:stretch/>
        </p:blipFill>
        <p:spPr>
          <a:xfrm>
            <a:off x="5056632" y="1810512"/>
            <a:ext cx="320040" cy="320040"/>
          </a:xfrm>
          <a:prstGeom prst="rect">
            <a:avLst/>
          </a:prstGeom>
          <a:noFill/>
          <a:ln>
            <a:noFill/>
          </a:ln>
        </p:spPr>
      </p:pic>
      <p:sp>
        <p:nvSpPr>
          <p:cNvPr id="80" name="Google Shape;80;p3"/>
          <p:cNvSpPr/>
          <p:nvPr/>
        </p:nvSpPr>
        <p:spPr>
          <a:xfrm>
            <a:off x="5669280" y="1600200"/>
            <a:ext cx="2651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400"/>
              <a:buFont typeface="Calibri"/>
              <a:buNone/>
            </a:pPr>
            <a:r>
              <a:rPr b="1" i="0" lang="en-US" sz="1400" u="none" cap="none" strike="noStrike">
                <a:solidFill>
                  <a:srgbClr val="2C3E50"/>
                </a:solidFill>
                <a:latin typeface="Calibri"/>
                <a:ea typeface="Calibri"/>
                <a:cs typeface="Calibri"/>
                <a:sym typeface="Calibri"/>
              </a:rPr>
              <a:t>Gamification Engine</a:t>
            </a:r>
            <a:endParaRPr b="0" i="0" sz="1400" u="none" cap="none" strike="noStrike">
              <a:solidFill>
                <a:schemeClr val="dk1"/>
              </a:solidFill>
              <a:latin typeface="Calibri"/>
              <a:ea typeface="Calibri"/>
              <a:cs typeface="Calibri"/>
              <a:sym typeface="Calibri"/>
            </a:endParaRPr>
          </a:p>
        </p:txBody>
      </p:sp>
      <p:sp>
        <p:nvSpPr>
          <p:cNvPr id="81" name="Google Shape;81;p3"/>
          <p:cNvSpPr/>
          <p:nvPr/>
        </p:nvSpPr>
        <p:spPr>
          <a:xfrm>
            <a:off x="5669280" y="1965960"/>
            <a:ext cx="26517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Points, 5 level tiers, missions, streaks, leaderboard</a:t>
            </a:r>
            <a:endParaRPr b="0" i="0" sz="1100" u="none" cap="none" strike="noStrike">
              <a:solidFill>
                <a:schemeClr val="dk1"/>
              </a:solidFill>
              <a:latin typeface="Calibri"/>
              <a:ea typeface="Calibri"/>
              <a:cs typeface="Calibri"/>
              <a:sym typeface="Calibri"/>
            </a:endParaRPr>
          </a:p>
        </p:txBody>
      </p:sp>
      <p:sp>
        <p:nvSpPr>
          <p:cNvPr id="82" name="Google Shape;82;p3"/>
          <p:cNvSpPr/>
          <p:nvPr/>
        </p:nvSpPr>
        <p:spPr>
          <a:xfrm>
            <a:off x="4754880" y="2651760"/>
            <a:ext cx="3749100" cy="10059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4937760" y="2834640"/>
            <a:ext cx="548700" cy="548700"/>
          </a:xfrm>
          <a:prstGeom prst="ellipse">
            <a:avLst/>
          </a:prstGeom>
          <a:solidFill>
            <a:srgbClr val="B3D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3"/>
          <p:cNvPicPr preferRelativeResize="0"/>
          <p:nvPr/>
        </p:nvPicPr>
        <p:blipFill rotWithShape="1">
          <a:blip r:embed="rId7">
            <a:alphaModFix/>
          </a:blip>
          <a:srcRect b="0" l="0" r="0" t="0"/>
          <a:stretch/>
        </p:blipFill>
        <p:spPr>
          <a:xfrm>
            <a:off x="5056632" y="2953512"/>
            <a:ext cx="320040" cy="320040"/>
          </a:xfrm>
          <a:prstGeom prst="rect">
            <a:avLst/>
          </a:prstGeom>
          <a:noFill/>
          <a:ln>
            <a:noFill/>
          </a:ln>
        </p:spPr>
      </p:pic>
      <p:sp>
        <p:nvSpPr>
          <p:cNvPr id="85" name="Google Shape;85;p3"/>
          <p:cNvSpPr/>
          <p:nvPr/>
        </p:nvSpPr>
        <p:spPr>
          <a:xfrm>
            <a:off x="5669280" y="2743200"/>
            <a:ext cx="2651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400"/>
              <a:buFont typeface="Calibri"/>
              <a:buNone/>
            </a:pPr>
            <a:r>
              <a:rPr b="1" i="0" lang="en-US" sz="1400" u="none" cap="none" strike="noStrike">
                <a:solidFill>
                  <a:srgbClr val="2C3E50"/>
                </a:solidFill>
                <a:latin typeface="Calibri"/>
                <a:ea typeface="Calibri"/>
                <a:cs typeface="Calibri"/>
                <a:sym typeface="Calibri"/>
              </a:rPr>
              <a:t>Study Buddy Finder</a:t>
            </a:r>
            <a:endParaRPr b="0" i="0" sz="1400" u="none" cap="none" strike="noStrike">
              <a:solidFill>
                <a:schemeClr val="dk1"/>
              </a:solidFill>
              <a:latin typeface="Calibri"/>
              <a:ea typeface="Calibri"/>
              <a:cs typeface="Calibri"/>
              <a:sym typeface="Calibri"/>
            </a:endParaRPr>
          </a:p>
        </p:txBody>
      </p:sp>
      <p:sp>
        <p:nvSpPr>
          <p:cNvPr id="86" name="Google Shape;86;p3"/>
          <p:cNvSpPr/>
          <p:nvPr/>
        </p:nvSpPr>
        <p:spPr>
          <a:xfrm>
            <a:off x="5669280" y="3108960"/>
            <a:ext cx="26517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Create/join study groups by module and location</a:t>
            </a:r>
            <a:endParaRPr b="0" i="0" sz="1100" u="none" cap="none" strike="noStrike">
              <a:solidFill>
                <a:schemeClr val="dk1"/>
              </a:solidFill>
              <a:latin typeface="Calibri"/>
              <a:ea typeface="Calibri"/>
              <a:cs typeface="Calibri"/>
              <a:sym typeface="Calibri"/>
            </a:endParaRPr>
          </a:p>
        </p:txBody>
      </p:sp>
      <p:sp>
        <p:nvSpPr>
          <p:cNvPr id="87" name="Google Shape;87;p3"/>
          <p:cNvSpPr/>
          <p:nvPr/>
        </p:nvSpPr>
        <p:spPr>
          <a:xfrm>
            <a:off x="4754880" y="3794760"/>
            <a:ext cx="3749100" cy="10059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4937760" y="3977640"/>
            <a:ext cx="548700" cy="548700"/>
          </a:xfrm>
          <a:prstGeom prst="ellipse">
            <a:avLst/>
          </a:prstGeom>
          <a:solidFill>
            <a:srgbClr val="7BC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3"/>
          <p:cNvPicPr preferRelativeResize="0"/>
          <p:nvPr/>
        </p:nvPicPr>
        <p:blipFill rotWithShape="1">
          <a:blip r:embed="rId8">
            <a:alphaModFix/>
          </a:blip>
          <a:srcRect b="0" l="0" r="0" t="0"/>
          <a:stretch/>
        </p:blipFill>
        <p:spPr>
          <a:xfrm>
            <a:off x="5056632" y="4096512"/>
            <a:ext cx="320040" cy="320040"/>
          </a:xfrm>
          <a:prstGeom prst="rect">
            <a:avLst/>
          </a:prstGeom>
          <a:noFill/>
          <a:ln>
            <a:noFill/>
          </a:ln>
        </p:spPr>
      </p:pic>
      <p:sp>
        <p:nvSpPr>
          <p:cNvPr id="90" name="Google Shape;90;p3"/>
          <p:cNvSpPr/>
          <p:nvPr/>
        </p:nvSpPr>
        <p:spPr>
          <a:xfrm>
            <a:off x="5669280" y="3886200"/>
            <a:ext cx="2651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400"/>
              <a:buFont typeface="Calibri"/>
              <a:buNone/>
            </a:pPr>
            <a:r>
              <a:rPr b="1" i="0" lang="en-US" sz="1400" u="none" cap="none" strike="noStrike">
                <a:solidFill>
                  <a:srgbClr val="2C3E50"/>
                </a:solidFill>
                <a:latin typeface="Calibri"/>
                <a:ea typeface="Calibri"/>
                <a:cs typeface="Calibri"/>
                <a:sym typeface="Calibri"/>
              </a:rPr>
              <a:t>Rewards Store &amp; Reviews</a:t>
            </a:r>
            <a:endParaRPr b="0" i="0" sz="1400" u="none" cap="none" strike="noStrike">
              <a:solidFill>
                <a:schemeClr val="dk1"/>
              </a:solidFill>
              <a:latin typeface="Calibri"/>
              <a:ea typeface="Calibri"/>
              <a:cs typeface="Calibri"/>
              <a:sym typeface="Calibri"/>
            </a:endParaRPr>
          </a:p>
        </p:txBody>
      </p:sp>
      <p:sp>
        <p:nvSpPr>
          <p:cNvPr id="91" name="Google Shape;91;p3"/>
          <p:cNvSpPr/>
          <p:nvPr/>
        </p:nvSpPr>
        <p:spPr>
          <a:xfrm>
            <a:off x="5669280" y="4251960"/>
            <a:ext cx="26517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Redeem points for rewards; rate locations 1-5 stars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EE"/>
        </a:solidFill>
      </p:bgPr>
    </p:bg>
    <p:spTree>
      <p:nvGrpSpPr>
        <p:cNvPr id="96" name="Shape 96"/>
        <p:cNvGrpSpPr/>
        <p:nvPr/>
      </p:nvGrpSpPr>
      <p:grpSpPr>
        <a:xfrm>
          <a:off x="0" y="0"/>
          <a:ext cx="0" cy="0"/>
          <a:chOff x="0" y="0"/>
          <a:chExt cx="0" cy="0"/>
        </a:xfrm>
      </p:grpSpPr>
      <p:sp>
        <p:nvSpPr>
          <p:cNvPr id="97" name="Google Shape;97;p4"/>
          <p:cNvSpPr/>
          <p:nvPr/>
        </p:nvSpPr>
        <p:spPr>
          <a:xfrm>
            <a:off x="731520" y="320040"/>
            <a:ext cx="7680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D2D5"/>
              </a:buClr>
              <a:buSzPts val="3400"/>
              <a:buFont typeface="Calibri"/>
              <a:buNone/>
            </a:pPr>
            <a:r>
              <a:rPr b="1" i="0" lang="en-US" sz="3400" u="none" cap="none" strike="noStrike">
                <a:solidFill>
                  <a:srgbClr val="2C3E50"/>
                </a:solidFill>
                <a:latin typeface="Calibri"/>
                <a:ea typeface="Calibri"/>
                <a:cs typeface="Calibri"/>
                <a:sym typeface="Calibri"/>
              </a:rPr>
              <a:t>Technical Architecture</a:t>
            </a:r>
            <a:endParaRPr b="1" i="0" sz="3400" u="none" cap="none" strike="noStrike">
              <a:solidFill>
                <a:srgbClr val="2C3E50"/>
              </a:solidFill>
              <a:latin typeface="Calibri"/>
              <a:ea typeface="Calibri"/>
              <a:cs typeface="Calibri"/>
              <a:sym typeface="Calibri"/>
            </a:endParaRPr>
          </a:p>
        </p:txBody>
      </p:sp>
      <p:sp>
        <p:nvSpPr>
          <p:cNvPr id="98" name="Google Shape;98;p4"/>
          <p:cNvSpPr/>
          <p:nvPr/>
        </p:nvSpPr>
        <p:spPr>
          <a:xfrm>
            <a:off x="731525" y="1111072"/>
            <a:ext cx="5029200" cy="502800"/>
          </a:xfrm>
          <a:prstGeom prst="rect">
            <a:avLst/>
          </a:prstGeom>
          <a:solidFill>
            <a:srgbClr val="7AAF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6FA8DC"/>
              </a:highlight>
            </a:endParaRPr>
          </a:p>
        </p:txBody>
      </p:sp>
      <p:sp>
        <p:nvSpPr>
          <p:cNvPr id="99" name="Google Shape;99;p4"/>
          <p:cNvSpPr/>
          <p:nvPr/>
        </p:nvSpPr>
        <p:spPr>
          <a:xfrm>
            <a:off x="860180" y="1170460"/>
            <a:ext cx="1005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Frontend</a:t>
            </a:r>
            <a:endParaRPr b="0" i="0" sz="1100" u="none" cap="none" strike="noStrike">
              <a:solidFill>
                <a:schemeClr val="dk1"/>
              </a:solidFill>
              <a:latin typeface="Calibri"/>
              <a:ea typeface="Calibri"/>
              <a:cs typeface="Calibri"/>
              <a:sym typeface="Calibri"/>
            </a:endParaRPr>
          </a:p>
        </p:txBody>
      </p:sp>
      <p:sp>
        <p:nvSpPr>
          <p:cNvPr id="100" name="Google Shape;100;p4"/>
          <p:cNvSpPr/>
          <p:nvPr/>
        </p:nvSpPr>
        <p:spPr>
          <a:xfrm>
            <a:off x="1920240" y="1170460"/>
            <a:ext cx="3657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1EE"/>
              </a:buClr>
              <a:buSzPts val="1100"/>
              <a:buFont typeface="Calibri"/>
              <a:buNone/>
            </a:pPr>
            <a:r>
              <a:rPr b="0" i="0" lang="en-US" sz="1100" u="none" cap="none" strike="noStrike">
                <a:solidFill>
                  <a:schemeClr val="lt1"/>
                </a:solidFill>
                <a:latin typeface="Calibri"/>
                <a:ea typeface="Calibri"/>
                <a:cs typeface="Calibri"/>
                <a:sym typeface="Calibri"/>
              </a:rPr>
              <a:t>Next.js</a:t>
            </a:r>
            <a:r>
              <a:rPr lang="en-US" sz="1100">
                <a:solidFill>
                  <a:schemeClr val="lt1"/>
                </a:solidFill>
                <a:latin typeface="Calibri"/>
                <a:ea typeface="Calibri"/>
                <a:cs typeface="Calibri"/>
                <a:sym typeface="Calibri"/>
              </a:rPr>
              <a:t> 16.2.1  </a:t>
            </a:r>
            <a:r>
              <a:rPr b="0" i="0" lang="en-US" sz="1100" u="none" cap="none" strike="noStrike">
                <a:solidFill>
                  <a:schemeClr val="lt1"/>
                </a:solidFill>
                <a:latin typeface="Calibri"/>
                <a:ea typeface="Calibri"/>
                <a:cs typeface="Calibri"/>
                <a:sym typeface="Calibri"/>
              </a:rPr>
              <a:t> +  React 19  +  TypeScript  +  Tailwind CSS v4  </a:t>
            </a:r>
            <a:br>
              <a:rPr b="0" i="0" lang="en-US" sz="1100" u="none" cap="none" strike="noStrike">
                <a:solidFill>
                  <a:schemeClr val="lt1"/>
                </a:solidFill>
                <a:latin typeface="Calibri"/>
                <a:ea typeface="Calibri"/>
                <a:cs typeface="Calibri"/>
                <a:sym typeface="Calibri"/>
              </a:rPr>
            </a:br>
            <a:r>
              <a:rPr b="0" i="0" lang="en-US" sz="1100" u="none" cap="none" strike="noStrike">
                <a:solidFill>
                  <a:schemeClr val="lt1"/>
                </a:solidFill>
                <a:latin typeface="Calibri"/>
                <a:ea typeface="Calibri"/>
                <a:cs typeface="Calibri"/>
                <a:sym typeface="Calibri"/>
              </a:rPr>
              <a:t>+  Framer Motion</a:t>
            </a:r>
            <a:endParaRPr b="0" i="0" sz="1100" u="none" cap="none" strike="noStrike">
              <a:solidFill>
                <a:schemeClr val="lt1"/>
              </a:solidFill>
              <a:latin typeface="Calibri"/>
              <a:ea typeface="Calibri"/>
              <a:cs typeface="Calibri"/>
              <a:sym typeface="Calibri"/>
            </a:endParaRPr>
          </a:p>
        </p:txBody>
      </p:sp>
      <p:grpSp>
        <p:nvGrpSpPr>
          <p:cNvPr id="101" name="Google Shape;101;p4"/>
          <p:cNvGrpSpPr/>
          <p:nvPr/>
        </p:nvGrpSpPr>
        <p:grpSpPr>
          <a:xfrm>
            <a:off x="731520" y="1804836"/>
            <a:ext cx="5029200" cy="384048"/>
            <a:chOff x="731520" y="1545336"/>
            <a:chExt cx="5029200" cy="384048"/>
          </a:xfrm>
        </p:grpSpPr>
        <p:sp>
          <p:nvSpPr>
            <p:cNvPr id="102" name="Google Shape;102;p4"/>
            <p:cNvSpPr/>
            <p:nvPr/>
          </p:nvSpPr>
          <p:spPr>
            <a:xfrm>
              <a:off x="731520" y="1545336"/>
              <a:ext cx="5029200" cy="384048"/>
            </a:xfrm>
            <a:prstGeom prst="rect">
              <a:avLst/>
            </a:prstGeom>
            <a:solidFill>
              <a:srgbClr val="7BC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868680" y="1545336"/>
              <a:ext cx="1005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Backend</a:t>
              </a:r>
              <a:endParaRPr b="0" i="0" sz="1100" u="none" cap="none" strike="noStrike">
                <a:solidFill>
                  <a:schemeClr val="dk1"/>
                </a:solidFill>
                <a:latin typeface="Calibri"/>
                <a:ea typeface="Calibri"/>
                <a:cs typeface="Calibri"/>
                <a:sym typeface="Calibri"/>
              </a:endParaRPr>
            </a:p>
          </p:txBody>
        </p:sp>
        <p:sp>
          <p:nvSpPr>
            <p:cNvPr id="104" name="Google Shape;104;p4"/>
            <p:cNvSpPr/>
            <p:nvPr/>
          </p:nvSpPr>
          <p:spPr>
            <a:xfrm>
              <a:off x="1920240" y="1545336"/>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1EE"/>
                </a:buClr>
                <a:buSzPts val="1100"/>
                <a:buFont typeface="Calibri"/>
                <a:buNone/>
              </a:pPr>
              <a:r>
                <a:rPr b="0" i="0" lang="en-US" sz="1100" u="none" cap="none" strike="noStrike">
                  <a:solidFill>
                    <a:schemeClr val="lt1"/>
                  </a:solidFill>
                  <a:latin typeface="Calibri"/>
                  <a:ea typeface="Calibri"/>
                  <a:cs typeface="Calibri"/>
                  <a:sym typeface="Calibri"/>
                </a:rPr>
                <a:t>Supabase  (PostgreSQL  +  Auth  +  Realtime)</a:t>
              </a:r>
              <a:endParaRPr b="0" i="0" sz="1100" u="none" cap="none" strike="noStrike">
                <a:solidFill>
                  <a:schemeClr val="lt1"/>
                </a:solidFill>
                <a:latin typeface="Calibri"/>
                <a:ea typeface="Calibri"/>
                <a:cs typeface="Calibri"/>
                <a:sym typeface="Calibri"/>
              </a:endParaRPr>
            </a:p>
          </p:txBody>
        </p:sp>
      </p:grpSp>
      <p:grpSp>
        <p:nvGrpSpPr>
          <p:cNvPr id="105" name="Google Shape;105;p4"/>
          <p:cNvGrpSpPr/>
          <p:nvPr/>
        </p:nvGrpSpPr>
        <p:grpSpPr>
          <a:xfrm>
            <a:off x="731520" y="2395225"/>
            <a:ext cx="5029200" cy="384048"/>
            <a:chOff x="731520" y="2039112"/>
            <a:chExt cx="5029200" cy="384048"/>
          </a:xfrm>
        </p:grpSpPr>
        <p:sp>
          <p:nvSpPr>
            <p:cNvPr id="106" name="Google Shape;106;p4"/>
            <p:cNvSpPr/>
            <p:nvPr/>
          </p:nvSpPr>
          <p:spPr>
            <a:xfrm>
              <a:off x="731520" y="2039112"/>
              <a:ext cx="5029200" cy="384000"/>
            </a:xfrm>
            <a:prstGeom prst="rect">
              <a:avLst/>
            </a:prstGeom>
            <a:solidFill>
              <a:srgbClr val="E2C044">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868680" y="2039112"/>
              <a:ext cx="1005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Deploy</a:t>
              </a:r>
              <a:endParaRPr b="0" i="0" sz="1100" u="none" cap="none" strike="noStrike">
                <a:solidFill>
                  <a:schemeClr val="dk1"/>
                </a:solidFill>
                <a:latin typeface="Calibri"/>
                <a:ea typeface="Calibri"/>
                <a:cs typeface="Calibri"/>
                <a:sym typeface="Calibri"/>
              </a:endParaRPr>
            </a:p>
          </p:txBody>
        </p:sp>
        <p:sp>
          <p:nvSpPr>
            <p:cNvPr id="108" name="Google Shape;108;p4"/>
            <p:cNvSpPr/>
            <p:nvPr/>
          </p:nvSpPr>
          <p:spPr>
            <a:xfrm>
              <a:off x="1920240" y="2039112"/>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1EE"/>
                </a:buClr>
                <a:buSzPts val="1100"/>
                <a:buFont typeface="Calibri"/>
                <a:buNone/>
              </a:pPr>
              <a:r>
                <a:rPr b="0" i="0" lang="en-US" sz="1100" u="none" cap="none" strike="noStrike">
                  <a:solidFill>
                    <a:srgbClr val="FFFFFF"/>
                  </a:solidFill>
                  <a:latin typeface="Calibri"/>
                  <a:ea typeface="Calibri"/>
                  <a:cs typeface="Calibri"/>
                  <a:sym typeface="Calibri"/>
                </a:rPr>
                <a:t>Vercel  +  Supabase Cloud</a:t>
              </a:r>
              <a:endParaRPr b="0" i="0" sz="1100" u="none" cap="none" strike="noStrike">
                <a:solidFill>
                  <a:srgbClr val="FFFFFF"/>
                </a:solidFill>
                <a:latin typeface="Calibri"/>
                <a:ea typeface="Calibri"/>
                <a:cs typeface="Calibri"/>
                <a:sym typeface="Calibri"/>
              </a:endParaRPr>
            </a:p>
          </p:txBody>
        </p:sp>
      </p:grpSp>
      <p:sp>
        <p:nvSpPr>
          <p:cNvPr id="109" name="Google Shape;109;p4"/>
          <p:cNvSpPr/>
          <p:nvPr/>
        </p:nvSpPr>
        <p:spPr>
          <a:xfrm>
            <a:off x="731520" y="2985610"/>
            <a:ext cx="457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D2D5"/>
              </a:buClr>
              <a:buSzPts val="1500"/>
              <a:buFont typeface="Calibri"/>
              <a:buNone/>
            </a:pPr>
            <a:r>
              <a:rPr b="1" i="0" lang="en-US" sz="1500" u="none" cap="none" strike="noStrike">
                <a:solidFill>
                  <a:srgbClr val="2C3E50"/>
                </a:solidFill>
                <a:latin typeface="Calibri"/>
                <a:ea typeface="Calibri"/>
                <a:cs typeface="Calibri"/>
                <a:sym typeface="Calibri"/>
              </a:rPr>
              <a:t>Architecture Highlights</a:t>
            </a:r>
            <a:endParaRPr b="0" i="0" sz="1500" u="none" cap="none" strike="noStrike">
              <a:solidFill>
                <a:srgbClr val="2C3E50"/>
              </a:solidFill>
              <a:latin typeface="Calibri"/>
              <a:ea typeface="Calibri"/>
              <a:cs typeface="Calibri"/>
              <a:sym typeface="Calibri"/>
            </a:endParaRPr>
          </a:p>
        </p:txBody>
      </p:sp>
      <p:sp>
        <p:nvSpPr>
          <p:cNvPr id="110" name="Google Shape;110;p4"/>
          <p:cNvSpPr/>
          <p:nvPr/>
        </p:nvSpPr>
        <p:spPr>
          <a:xfrm>
            <a:off x="731520" y="3351370"/>
            <a:ext cx="5029200" cy="13716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chemeClr val="dk2"/>
              </a:buClr>
              <a:buSzPts val="1200"/>
              <a:buFont typeface="Calibri"/>
              <a:buChar char="•"/>
            </a:pPr>
            <a:r>
              <a:rPr b="0" i="0" lang="en-US" sz="1200" u="none" cap="none" strike="noStrike">
                <a:solidFill>
                  <a:schemeClr val="dk2"/>
                </a:solidFill>
                <a:latin typeface="Calibri"/>
                <a:ea typeface="Calibri"/>
                <a:cs typeface="Calibri"/>
                <a:sym typeface="Calibri"/>
              </a:rPr>
              <a:t>MVC folder structure — /app, /components, /lib/db, /types</a:t>
            </a:r>
            <a:endParaRPr b="0" i="0" sz="1200" u="none" cap="none" strike="noStrike">
              <a:solidFill>
                <a:schemeClr val="dk2"/>
              </a:solidFill>
              <a:latin typeface="Calibri"/>
              <a:ea typeface="Calibri"/>
              <a:cs typeface="Calibri"/>
              <a:sym typeface="Calibri"/>
            </a:endParaRPr>
          </a:p>
          <a:p>
            <a:pPr indent="-342900" lvl="0" marL="342900" marR="0" rtl="0" algn="l">
              <a:spcBef>
                <a:spcPts val="600"/>
              </a:spcBef>
              <a:spcAft>
                <a:spcPts val="0"/>
              </a:spcAft>
              <a:buClr>
                <a:schemeClr val="dk2"/>
              </a:buClr>
              <a:buSzPts val="1200"/>
              <a:buFont typeface="Calibri"/>
              <a:buChar char="•"/>
            </a:pPr>
            <a:r>
              <a:rPr b="0" i="0" lang="en-US" sz="1200" u="none" cap="none" strike="noStrike">
                <a:solidFill>
                  <a:schemeClr val="dk2"/>
                </a:solidFill>
                <a:latin typeface="Calibri"/>
                <a:ea typeface="Calibri"/>
                <a:cs typeface="Calibri"/>
                <a:sym typeface="Calibri"/>
              </a:rPr>
              <a:t>12 database tables with strict TypeScript types</a:t>
            </a:r>
            <a:endParaRPr b="0" i="0" sz="1200" u="none" cap="none" strike="noStrike">
              <a:solidFill>
                <a:schemeClr val="dk2"/>
              </a:solidFill>
              <a:latin typeface="Calibri"/>
              <a:ea typeface="Calibri"/>
              <a:cs typeface="Calibri"/>
              <a:sym typeface="Calibri"/>
            </a:endParaRPr>
          </a:p>
          <a:p>
            <a:pPr indent="-342900" lvl="0" marL="342900" marR="0" rtl="0" algn="l">
              <a:spcBef>
                <a:spcPts val="600"/>
              </a:spcBef>
              <a:spcAft>
                <a:spcPts val="0"/>
              </a:spcAft>
              <a:buClr>
                <a:schemeClr val="dk2"/>
              </a:buClr>
              <a:buSzPts val="1200"/>
              <a:buFont typeface="Calibri"/>
              <a:buChar char="•"/>
            </a:pPr>
            <a:r>
              <a:rPr b="0" i="0" lang="en-US" sz="1200" u="none" cap="none" strike="noStrike">
                <a:solidFill>
                  <a:schemeClr val="dk2"/>
                </a:solidFill>
                <a:latin typeface="Calibri"/>
                <a:ea typeface="Calibri"/>
                <a:cs typeface="Calibri"/>
                <a:sym typeface="Calibri"/>
              </a:rPr>
              <a:t>Middleware-enforced auth — </a:t>
            </a:r>
            <a:r>
              <a:rPr lang="en-US" sz="1200">
                <a:solidFill>
                  <a:schemeClr val="dk2"/>
                </a:solidFill>
                <a:latin typeface="Calibri"/>
                <a:ea typeface="Calibri"/>
                <a:cs typeface="Calibri"/>
                <a:sym typeface="Calibri"/>
              </a:rPr>
              <a:t>3</a:t>
            </a:r>
            <a:r>
              <a:rPr b="0" i="0" lang="en-US" sz="1200" u="none" cap="none" strike="noStrike">
                <a:solidFill>
                  <a:schemeClr val="dk2"/>
                </a:solidFill>
                <a:latin typeface="Calibri"/>
                <a:ea typeface="Calibri"/>
                <a:cs typeface="Calibri"/>
                <a:sym typeface="Calibri"/>
              </a:rPr>
              <a:t> tiers (guest </a:t>
            </a:r>
            <a:r>
              <a:rPr lang="en-US" sz="1200">
                <a:solidFill>
                  <a:schemeClr val="dk2"/>
                </a:solidFill>
                <a:latin typeface="Calibri"/>
                <a:ea typeface="Calibri"/>
                <a:cs typeface="Calibri"/>
                <a:sym typeface="Calibri"/>
              </a:rPr>
              <a:t>/ </a:t>
            </a:r>
            <a:r>
              <a:rPr b="0" i="0" lang="en-US" sz="1200" u="none" cap="none" strike="noStrike">
                <a:solidFill>
                  <a:schemeClr val="dk2"/>
                </a:solidFill>
                <a:latin typeface="Calibri"/>
                <a:ea typeface="Calibri"/>
                <a:cs typeface="Calibri"/>
                <a:sym typeface="Calibri"/>
              </a:rPr>
              <a:t>user / admin) at the Edge</a:t>
            </a:r>
            <a:endParaRPr b="0" i="0" sz="1200" u="none" cap="none" strike="noStrike">
              <a:solidFill>
                <a:schemeClr val="dk2"/>
              </a:solidFill>
              <a:latin typeface="Calibri"/>
              <a:ea typeface="Calibri"/>
              <a:cs typeface="Calibri"/>
              <a:sym typeface="Calibri"/>
            </a:endParaRPr>
          </a:p>
          <a:p>
            <a:pPr indent="-342900" lvl="0" marL="342900" marR="0" rtl="0" algn="l">
              <a:spcBef>
                <a:spcPts val="600"/>
              </a:spcBef>
              <a:spcAft>
                <a:spcPts val="0"/>
              </a:spcAft>
              <a:buClr>
                <a:schemeClr val="dk2"/>
              </a:buClr>
              <a:buSzPts val="1200"/>
              <a:buFont typeface="Calibri"/>
              <a:buChar char="•"/>
            </a:pPr>
            <a:r>
              <a:rPr b="0" i="0" lang="en-US" sz="1200" u="none" cap="none" strike="noStrike">
                <a:solidFill>
                  <a:schemeClr val="dk2"/>
                </a:solidFill>
                <a:latin typeface="Calibri"/>
                <a:ea typeface="Calibri"/>
                <a:cs typeface="Calibri"/>
                <a:sym typeface="Calibri"/>
              </a:rPr>
              <a:t>DbResult&lt;T&gt; pattern — standardized error handling across all query modules</a:t>
            </a:r>
            <a:endParaRPr b="0" i="0" sz="1200" u="none" cap="none" strike="noStrike">
              <a:solidFill>
                <a:schemeClr val="dk2"/>
              </a:solidFill>
              <a:latin typeface="Calibri"/>
              <a:ea typeface="Calibri"/>
              <a:cs typeface="Calibri"/>
              <a:sym typeface="Calibri"/>
            </a:endParaRPr>
          </a:p>
        </p:txBody>
      </p:sp>
      <p:sp>
        <p:nvSpPr>
          <p:cNvPr id="111" name="Google Shape;111;p4"/>
          <p:cNvSpPr/>
          <p:nvPr/>
        </p:nvSpPr>
        <p:spPr>
          <a:xfrm>
            <a:off x="6126480" y="1111085"/>
            <a:ext cx="2469000" cy="3566100"/>
          </a:xfrm>
          <a:prstGeom prst="rect">
            <a:avLst/>
          </a:prstGeom>
          <a:solidFill>
            <a:srgbClr val="5C49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6309360" y="1248245"/>
            <a:ext cx="2103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C044"/>
              </a:buClr>
              <a:buSzPts val="1400"/>
              <a:buFont typeface="Calibri"/>
              <a:buNone/>
            </a:pPr>
            <a:r>
              <a:rPr b="1" i="0" lang="en-US" sz="1400" u="none" cap="none" strike="noStrike">
                <a:solidFill>
                  <a:srgbClr val="FFD966"/>
                </a:solidFill>
                <a:latin typeface="Calibri"/>
                <a:ea typeface="Calibri"/>
                <a:cs typeface="Calibri"/>
                <a:sym typeface="Calibri"/>
              </a:rPr>
              <a:t>Key Decisions</a:t>
            </a:r>
            <a:endParaRPr b="0" i="0" sz="1400" u="none" cap="none" strike="noStrike">
              <a:solidFill>
                <a:srgbClr val="FFD966"/>
              </a:solidFill>
              <a:latin typeface="Calibri"/>
              <a:ea typeface="Calibri"/>
              <a:cs typeface="Calibri"/>
              <a:sym typeface="Calibri"/>
            </a:endParaRPr>
          </a:p>
        </p:txBody>
      </p:sp>
      <p:sp>
        <p:nvSpPr>
          <p:cNvPr id="113" name="Google Shape;113;p4"/>
          <p:cNvSpPr/>
          <p:nvPr/>
        </p:nvSpPr>
        <p:spPr>
          <a:xfrm>
            <a:off x="6309360" y="1751165"/>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SVG over Google Maps</a:t>
            </a:r>
            <a:endParaRPr b="0" i="0" sz="1200" u="none" cap="none" strike="noStrike">
              <a:solidFill>
                <a:schemeClr val="dk1"/>
              </a:solidFill>
              <a:latin typeface="Calibri"/>
              <a:ea typeface="Calibri"/>
              <a:cs typeface="Calibri"/>
              <a:sym typeface="Calibri"/>
            </a:endParaRPr>
          </a:p>
        </p:txBody>
      </p:sp>
      <p:sp>
        <p:nvSpPr>
          <p:cNvPr id="114" name="Google Shape;114;p4"/>
          <p:cNvSpPr/>
          <p:nvPr/>
        </p:nvSpPr>
        <p:spPr>
          <a:xfrm>
            <a:off x="6309360" y="2071205"/>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chemeClr val="lt1"/>
                </a:solidFill>
                <a:latin typeface="Calibri"/>
                <a:ea typeface="Calibri"/>
                <a:cs typeface="Calibri"/>
                <a:sym typeface="Calibri"/>
              </a:rPr>
              <a:t>Indoor floor plans, zero API cost</a:t>
            </a:r>
            <a:endParaRPr b="0" i="0" sz="1100" u="none" cap="none" strike="noStrike">
              <a:solidFill>
                <a:schemeClr val="lt1"/>
              </a:solidFill>
              <a:latin typeface="Calibri"/>
              <a:ea typeface="Calibri"/>
              <a:cs typeface="Calibri"/>
              <a:sym typeface="Calibri"/>
            </a:endParaRPr>
          </a:p>
        </p:txBody>
      </p:sp>
      <p:sp>
        <p:nvSpPr>
          <p:cNvPr id="115" name="Google Shape;115;p4"/>
          <p:cNvSpPr/>
          <p:nvPr/>
        </p:nvSpPr>
        <p:spPr>
          <a:xfrm>
            <a:off x="6309360" y="2482685"/>
            <a:ext cx="2103000" cy="9000"/>
          </a:xfrm>
          <a:prstGeom prst="rect">
            <a:avLst/>
          </a:prstGeom>
          <a:solidFill>
            <a:srgbClr val="5D6D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6309360" y="2665565"/>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Supabase over custom BE</a:t>
            </a:r>
            <a:endParaRPr b="0" i="0" sz="1200" u="none" cap="none" strike="noStrike">
              <a:solidFill>
                <a:schemeClr val="dk1"/>
              </a:solidFill>
              <a:latin typeface="Calibri"/>
              <a:ea typeface="Calibri"/>
              <a:cs typeface="Calibri"/>
              <a:sym typeface="Calibri"/>
            </a:endParaRPr>
          </a:p>
        </p:txBody>
      </p:sp>
      <p:sp>
        <p:nvSpPr>
          <p:cNvPr id="117" name="Google Shape;117;p4"/>
          <p:cNvSpPr/>
          <p:nvPr/>
        </p:nvSpPr>
        <p:spPr>
          <a:xfrm>
            <a:off x="6309360" y="2985605"/>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chemeClr val="lt1"/>
                </a:solidFill>
                <a:latin typeface="Calibri"/>
                <a:ea typeface="Calibri"/>
                <a:cs typeface="Calibri"/>
                <a:sym typeface="Calibri"/>
              </a:rPr>
              <a:t>Built-in auth, real-time, faster dev</a:t>
            </a:r>
            <a:endParaRPr b="0" i="0" sz="1100" u="none" cap="none" strike="noStrike">
              <a:solidFill>
                <a:schemeClr val="lt1"/>
              </a:solidFill>
              <a:latin typeface="Calibri"/>
              <a:ea typeface="Calibri"/>
              <a:cs typeface="Calibri"/>
              <a:sym typeface="Calibri"/>
            </a:endParaRPr>
          </a:p>
        </p:txBody>
      </p:sp>
      <p:sp>
        <p:nvSpPr>
          <p:cNvPr id="118" name="Google Shape;118;p4"/>
          <p:cNvSpPr/>
          <p:nvPr/>
        </p:nvSpPr>
        <p:spPr>
          <a:xfrm>
            <a:off x="6309360" y="3397085"/>
            <a:ext cx="2103000" cy="9000"/>
          </a:xfrm>
          <a:prstGeom prst="rect">
            <a:avLst/>
          </a:prstGeom>
          <a:solidFill>
            <a:srgbClr val="5D6D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6309360" y="3579965"/>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CSS variable theming</a:t>
            </a:r>
            <a:endParaRPr b="0" i="0" sz="1200" u="none" cap="none" strike="noStrike">
              <a:solidFill>
                <a:schemeClr val="dk1"/>
              </a:solidFill>
              <a:latin typeface="Calibri"/>
              <a:ea typeface="Calibri"/>
              <a:cs typeface="Calibri"/>
              <a:sym typeface="Calibri"/>
            </a:endParaRPr>
          </a:p>
        </p:txBody>
      </p:sp>
      <p:sp>
        <p:nvSpPr>
          <p:cNvPr id="120" name="Google Shape;120;p4"/>
          <p:cNvSpPr/>
          <p:nvPr/>
        </p:nvSpPr>
        <p:spPr>
          <a:xfrm>
            <a:off x="6309360" y="3900005"/>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chemeClr val="lt1"/>
                </a:solidFill>
                <a:latin typeface="Calibri"/>
                <a:ea typeface="Calibri"/>
                <a:cs typeface="Calibri"/>
                <a:sym typeface="Calibri"/>
              </a:rPr>
              <a:t>Auto dark mode via SGT timezone</a:t>
            </a:r>
            <a:endParaRPr b="0" i="0" sz="11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EE"/>
        </a:solidFill>
      </p:bgPr>
    </p:bg>
    <p:spTree>
      <p:nvGrpSpPr>
        <p:cNvPr id="125" name="Shape 125"/>
        <p:cNvGrpSpPr/>
        <p:nvPr/>
      </p:nvGrpSpPr>
      <p:grpSpPr>
        <a:xfrm>
          <a:off x="0" y="0"/>
          <a:ext cx="0" cy="0"/>
          <a:chOff x="0" y="0"/>
          <a:chExt cx="0" cy="0"/>
        </a:xfrm>
      </p:grpSpPr>
      <p:sp>
        <p:nvSpPr>
          <p:cNvPr id="126" name="Google Shape;126;p5"/>
          <p:cNvSpPr/>
          <p:nvPr/>
        </p:nvSpPr>
        <p:spPr>
          <a:xfrm>
            <a:off x="731520" y="36576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3600"/>
              <a:buFont typeface="Calibri"/>
              <a:buNone/>
            </a:pPr>
            <a:r>
              <a:rPr b="1" lang="en-US" sz="3600">
                <a:solidFill>
                  <a:srgbClr val="2C3E50"/>
                </a:solidFill>
                <a:latin typeface="Calibri"/>
                <a:ea typeface="Calibri"/>
                <a:cs typeface="Calibri"/>
                <a:sym typeface="Calibri"/>
              </a:rPr>
              <a:t>Project </a:t>
            </a:r>
            <a:r>
              <a:rPr b="1" i="0" lang="en-US" sz="3600" u="none" cap="none" strike="noStrike">
                <a:solidFill>
                  <a:srgbClr val="2C3E50"/>
                </a:solidFill>
                <a:latin typeface="Calibri"/>
                <a:ea typeface="Calibri"/>
                <a:cs typeface="Calibri"/>
                <a:sym typeface="Calibri"/>
              </a:rPr>
              <a:t>Highlights</a:t>
            </a:r>
            <a:endParaRPr b="0" i="0" sz="3600" u="none" cap="none" strike="noStrike">
              <a:solidFill>
                <a:schemeClr val="dk1"/>
              </a:solidFill>
              <a:latin typeface="Calibri"/>
              <a:ea typeface="Calibri"/>
              <a:cs typeface="Calibri"/>
              <a:sym typeface="Calibri"/>
            </a:endParaRPr>
          </a:p>
        </p:txBody>
      </p:sp>
      <p:sp>
        <p:nvSpPr>
          <p:cNvPr id="127" name="Google Shape;127;p5"/>
          <p:cNvSpPr/>
          <p:nvPr/>
        </p:nvSpPr>
        <p:spPr>
          <a:xfrm>
            <a:off x="731525" y="1280149"/>
            <a:ext cx="2469000" cy="14682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914400" y="1463040"/>
            <a:ext cx="502920" cy="502920"/>
          </a:xfrm>
          <a:prstGeom prst="ellipse">
            <a:avLst/>
          </a:prstGeom>
          <a:solidFill>
            <a:srgbClr val="B3D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5"/>
          <p:cNvPicPr preferRelativeResize="0"/>
          <p:nvPr/>
        </p:nvPicPr>
        <p:blipFill rotWithShape="1">
          <a:blip r:embed="rId3">
            <a:alphaModFix/>
          </a:blip>
          <a:srcRect b="0" l="0" r="0" t="0"/>
          <a:stretch/>
        </p:blipFill>
        <p:spPr>
          <a:xfrm>
            <a:off x="1014984" y="1563624"/>
            <a:ext cx="301752" cy="301752"/>
          </a:xfrm>
          <a:prstGeom prst="rect">
            <a:avLst/>
          </a:prstGeom>
          <a:noFill/>
          <a:ln>
            <a:noFill/>
          </a:ln>
        </p:spPr>
      </p:pic>
      <p:sp>
        <p:nvSpPr>
          <p:cNvPr id="130" name="Google Shape;130;p5"/>
          <p:cNvSpPr/>
          <p:nvPr/>
        </p:nvSpPr>
        <p:spPr>
          <a:xfrm>
            <a:off x="1554480" y="1463040"/>
            <a:ext cx="1463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Full-Stack TypeScript</a:t>
            </a:r>
            <a:endParaRPr b="0" i="0" sz="1300" u="none" cap="none" strike="noStrike">
              <a:solidFill>
                <a:schemeClr val="dk1"/>
              </a:solidFill>
              <a:latin typeface="Calibri"/>
              <a:ea typeface="Calibri"/>
              <a:cs typeface="Calibri"/>
              <a:sym typeface="Calibri"/>
            </a:endParaRPr>
          </a:p>
        </p:txBody>
      </p:sp>
      <p:sp>
        <p:nvSpPr>
          <p:cNvPr id="131" name="Google Shape;131;p5"/>
          <p:cNvSpPr/>
          <p:nvPr/>
        </p:nvSpPr>
        <p:spPr>
          <a:xfrm>
            <a:off x="914400" y="2057400"/>
            <a:ext cx="2103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Strict type safety from DB to UI, zero </a:t>
            </a:r>
            <a:r>
              <a:rPr lang="en-US" sz="1100">
                <a:solidFill>
                  <a:srgbClr val="5D6D7E"/>
                </a:solidFill>
                <a:latin typeface="Calibri"/>
                <a:ea typeface="Calibri"/>
                <a:cs typeface="Calibri"/>
                <a:sym typeface="Calibri"/>
              </a:rPr>
              <a:t>‘</a:t>
            </a:r>
            <a:r>
              <a:rPr b="0" i="0" lang="en-US" sz="1100" u="none" cap="none" strike="noStrike">
                <a:solidFill>
                  <a:srgbClr val="5D6D7E"/>
                </a:solidFill>
                <a:latin typeface="Calibri"/>
                <a:ea typeface="Calibri"/>
                <a:cs typeface="Calibri"/>
                <a:sym typeface="Calibri"/>
              </a:rPr>
              <a:t>any</a:t>
            </a:r>
            <a:r>
              <a:rPr lang="en-US" sz="1100">
                <a:solidFill>
                  <a:srgbClr val="5D6D7E"/>
                </a:solidFill>
                <a:latin typeface="Calibri"/>
                <a:ea typeface="Calibri"/>
                <a:cs typeface="Calibri"/>
                <a:sym typeface="Calibri"/>
              </a:rPr>
              <a:t>’</a:t>
            </a:r>
            <a:r>
              <a:rPr b="0" i="0" lang="en-US" sz="1100" u="none" cap="none" strike="noStrike">
                <a:solidFill>
                  <a:srgbClr val="5D6D7E"/>
                </a:solidFill>
                <a:latin typeface="Calibri"/>
                <a:ea typeface="Calibri"/>
                <a:cs typeface="Calibri"/>
                <a:sym typeface="Calibri"/>
              </a:rPr>
              <a:t> in data layer</a:t>
            </a:r>
            <a:endParaRPr b="0" i="0" sz="1100" u="none" cap="none" strike="noStrike">
              <a:solidFill>
                <a:schemeClr val="dk1"/>
              </a:solidFill>
              <a:latin typeface="Calibri"/>
              <a:ea typeface="Calibri"/>
              <a:cs typeface="Calibri"/>
              <a:sym typeface="Calibri"/>
            </a:endParaRPr>
          </a:p>
        </p:txBody>
      </p:sp>
      <p:sp>
        <p:nvSpPr>
          <p:cNvPr id="132" name="Google Shape;132;p5"/>
          <p:cNvSpPr/>
          <p:nvPr/>
        </p:nvSpPr>
        <p:spPr>
          <a:xfrm>
            <a:off x="3520450" y="1280149"/>
            <a:ext cx="2469000" cy="14790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3703320" y="1463040"/>
            <a:ext cx="502920" cy="502920"/>
          </a:xfrm>
          <a:prstGeom prst="ellipse">
            <a:avLst/>
          </a:prstGeom>
          <a:solidFill>
            <a:srgbClr val="7BC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 name="Google Shape;134;p5"/>
          <p:cNvPicPr preferRelativeResize="0"/>
          <p:nvPr/>
        </p:nvPicPr>
        <p:blipFill rotWithShape="1">
          <a:blip r:embed="rId4">
            <a:alphaModFix/>
          </a:blip>
          <a:srcRect b="0" l="0" r="0" t="0"/>
          <a:stretch/>
        </p:blipFill>
        <p:spPr>
          <a:xfrm>
            <a:off x="3803904" y="1563624"/>
            <a:ext cx="301752" cy="301752"/>
          </a:xfrm>
          <a:prstGeom prst="rect">
            <a:avLst/>
          </a:prstGeom>
          <a:noFill/>
          <a:ln>
            <a:noFill/>
          </a:ln>
        </p:spPr>
      </p:pic>
      <p:sp>
        <p:nvSpPr>
          <p:cNvPr id="135" name="Google Shape;135;p5"/>
          <p:cNvSpPr/>
          <p:nvPr/>
        </p:nvSpPr>
        <p:spPr>
          <a:xfrm>
            <a:off x="4343400" y="1463040"/>
            <a:ext cx="1463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Zero-Admin Occupancy</a:t>
            </a:r>
            <a:endParaRPr b="0" i="0" sz="1300" u="none" cap="none" strike="noStrike">
              <a:solidFill>
                <a:schemeClr val="dk1"/>
              </a:solidFill>
              <a:latin typeface="Calibri"/>
              <a:ea typeface="Calibri"/>
              <a:cs typeface="Calibri"/>
              <a:sym typeface="Calibri"/>
            </a:endParaRPr>
          </a:p>
        </p:txBody>
      </p:sp>
      <p:sp>
        <p:nvSpPr>
          <p:cNvPr id="136" name="Google Shape;136;p5"/>
          <p:cNvSpPr/>
          <p:nvPr/>
        </p:nvSpPr>
        <p:spPr>
          <a:xfrm>
            <a:off x="3703320" y="2057400"/>
            <a:ext cx="2103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Status auto-updates via DB triggers from check-in/out sessions</a:t>
            </a:r>
            <a:endParaRPr b="0" i="0" sz="1100" u="none" cap="none" strike="noStrike">
              <a:solidFill>
                <a:schemeClr val="dk1"/>
              </a:solidFill>
              <a:latin typeface="Calibri"/>
              <a:ea typeface="Calibri"/>
              <a:cs typeface="Calibri"/>
              <a:sym typeface="Calibri"/>
            </a:endParaRPr>
          </a:p>
        </p:txBody>
      </p:sp>
      <p:sp>
        <p:nvSpPr>
          <p:cNvPr id="137" name="Google Shape;137;p5"/>
          <p:cNvSpPr/>
          <p:nvPr/>
        </p:nvSpPr>
        <p:spPr>
          <a:xfrm>
            <a:off x="6309350" y="1280149"/>
            <a:ext cx="2469000" cy="14790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6492240" y="1463040"/>
            <a:ext cx="502920" cy="502920"/>
          </a:xfrm>
          <a:prstGeom prst="ellipse">
            <a:avLst/>
          </a:prstGeom>
          <a:solidFill>
            <a:srgbClr val="E2C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9" name="Google Shape;139;p5"/>
          <p:cNvPicPr preferRelativeResize="0"/>
          <p:nvPr/>
        </p:nvPicPr>
        <p:blipFill rotWithShape="1">
          <a:blip r:embed="rId5">
            <a:alphaModFix/>
          </a:blip>
          <a:srcRect b="0" l="0" r="0" t="0"/>
          <a:stretch/>
        </p:blipFill>
        <p:spPr>
          <a:xfrm>
            <a:off x="6592824" y="1563624"/>
            <a:ext cx="301752" cy="301752"/>
          </a:xfrm>
          <a:prstGeom prst="rect">
            <a:avLst/>
          </a:prstGeom>
          <a:noFill/>
          <a:ln>
            <a:noFill/>
          </a:ln>
        </p:spPr>
      </p:pic>
      <p:sp>
        <p:nvSpPr>
          <p:cNvPr id="140" name="Google Shape;140;p5"/>
          <p:cNvSpPr/>
          <p:nvPr/>
        </p:nvSpPr>
        <p:spPr>
          <a:xfrm>
            <a:off x="7132320" y="1463040"/>
            <a:ext cx="1463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Gesture-Rich Map</a:t>
            </a:r>
            <a:endParaRPr b="0" i="0" sz="1300" u="none" cap="none" strike="noStrike">
              <a:solidFill>
                <a:schemeClr val="dk1"/>
              </a:solidFill>
              <a:latin typeface="Calibri"/>
              <a:ea typeface="Calibri"/>
              <a:cs typeface="Calibri"/>
              <a:sym typeface="Calibri"/>
            </a:endParaRPr>
          </a:p>
        </p:txBody>
      </p:sp>
      <p:sp>
        <p:nvSpPr>
          <p:cNvPr id="141" name="Google Shape;141;p5"/>
          <p:cNvSpPr/>
          <p:nvPr/>
        </p:nvSpPr>
        <p:spPr>
          <a:xfrm>
            <a:off x="6492240" y="2057400"/>
            <a:ext cx="2103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SVG floor plan with drag, pinch-to-zoom, tap-to-select</a:t>
            </a:r>
            <a:endParaRPr b="0" i="0" sz="1100" u="none" cap="none" strike="noStrike">
              <a:solidFill>
                <a:schemeClr val="dk1"/>
              </a:solidFill>
              <a:latin typeface="Calibri"/>
              <a:ea typeface="Calibri"/>
              <a:cs typeface="Calibri"/>
              <a:sym typeface="Calibri"/>
            </a:endParaRPr>
          </a:p>
        </p:txBody>
      </p:sp>
      <p:sp>
        <p:nvSpPr>
          <p:cNvPr id="142" name="Google Shape;142;p5"/>
          <p:cNvSpPr/>
          <p:nvPr/>
        </p:nvSpPr>
        <p:spPr>
          <a:xfrm>
            <a:off x="731525" y="2974438"/>
            <a:ext cx="2469000" cy="14790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914400" y="3157328"/>
            <a:ext cx="502800" cy="502800"/>
          </a:xfrm>
          <a:prstGeom prst="ellipse">
            <a:avLst/>
          </a:prstGeom>
          <a:solidFill>
            <a:srgbClr val="E598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4" name="Google Shape;144;p5"/>
          <p:cNvPicPr preferRelativeResize="0"/>
          <p:nvPr/>
        </p:nvPicPr>
        <p:blipFill rotWithShape="1">
          <a:blip r:embed="rId6">
            <a:alphaModFix/>
          </a:blip>
          <a:srcRect b="0" l="0" r="0" t="0"/>
          <a:stretch/>
        </p:blipFill>
        <p:spPr>
          <a:xfrm>
            <a:off x="1014984" y="3257912"/>
            <a:ext cx="301752" cy="301752"/>
          </a:xfrm>
          <a:prstGeom prst="rect">
            <a:avLst/>
          </a:prstGeom>
          <a:noFill/>
          <a:ln>
            <a:noFill/>
          </a:ln>
        </p:spPr>
      </p:pic>
      <p:sp>
        <p:nvSpPr>
          <p:cNvPr id="145" name="Google Shape;145;p5"/>
          <p:cNvSpPr/>
          <p:nvPr/>
        </p:nvSpPr>
        <p:spPr>
          <a:xfrm>
            <a:off x="1554480" y="3157328"/>
            <a:ext cx="146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Complete Gamification</a:t>
            </a:r>
            <a:endParaRPr b="0" i="0" sz="1300" u="none" cap="none" strike="noStrike">
              <a:solidFill>
                <a:schemeClr val="dk1"/>
              </a:solidFill>
              <a:latin typeface="Calibri"/>
              <a:ea typeface="Calibri"/>
              <a:cs typeface="Calibri"/>
              <a:sym typeface="Calibri"/>
            </a:endParaRPr>
          </a:p>
        </p:txBody>
      </p:sp>
      <p:sp>
        <p:nvSpPr>
          <p:cNvPr id="146" name="Google Shape;146;p5"/>
          <p:cNvSpPr/>
          <p:nvPr/>
        </p:nvSpPr>
        <p:spPr>
          <a:xfrm>
            <a:off x="914400" y="3751688"/>
            <a:ext cx="2103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Points (atomic RPC), levels, streaks, missions, leaderboard, rewards</a:t>
            </a:r>
            <a:endParaRPr b="0" i="0" sz="1100" u="none" cap="none" strike="noStrike">
              <a:solidFill>
                <a:schemeClr val="dk1"/>
              </a:solidFill>
              <a:latin typeface="Calibri"/>
              <a:ea typeface="Calibri"/>
              <a:cs typeface="Calibri"/>
              <a:sym typeface="Calibri"/>
            </a:endParaRPr>
          </a:p>
        </p:txBody>
      </p:sp>
      <p:sp>
        <p:nvSpPr>
          <p:cNvPr id="147" name="Google Shape;147;p5"/>
          <p:cNvSpPr/>
          <p:nvPr/>
        </p:nvSpPr>
        <p:spPr>
          <a:xfrm>
            <a:off x="3520450" y="2974437"/>
            <a:ext cx="2469000" cy="14790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3703320" y="3157328"/>
            <a:ext cx="502800" cy="502800"/>
          </a:xfrm>
          <a:prstGeom prst="ellipse">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5"/>
          <p:cNvPicPr preferRelativeResize="0"/>
          <p:nvPr/>
        </p:nvPicPr>
        <p:blipFill rotWithShape="1">
          <a:blip r:embed="rId7">
            <a:alphaModFix/>
          </a:blip>
          <a:srcRect b="0" l="0" r="0" t="0"/>
          <a:stretch/>
        </p:blipFill>
        <p:spPr>
          <a:xfrm>
            <a:off x="3803904" y="3257912"/>
            <a:ext cx="301752" cy="301752"/>
          </a:xfrm>
          <a:prstGeom prst="rect">
            <a:avLst/>
          </a:prstGeom>
          <a:noFill/>
          <a:ln>
            <a:noFill/>
          </a:ln>
        </p:spPr>
      </p:pic>
      <p:sp>
        <p:nvSpPr>
          <p:cNvPr id="150" name="Google Shape;150;p5"/>
          <p:cNvSpPr/>
          <p:nvPr/>
        </p:nvSpPr>
        <p:spPr>
          <a:xfrm>
            <a:off x="4343400" y="3157328"/>
            <a:ext cx="146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Auto Dark Mode</a:t>
            </a:r>
            <a:endParaRPr b="0" i="0" sz="1300" u="none" cap="none" strike="noStrike">
              <a:solidFill>
                <a:schemeClr val="dk1"/>
              </a:solidFill>
              <a:latin typeface="Calibri"/>
              <a:ea typeface="Calibri"/>
              <a:cs typeface="Calibri"/>
              <a:sym typeface="Calibri"/>
            </a:endParaRPr>
          </a:p>
        </p:txBody>
      </p:sp>
      <p:sp>
        <p:nvSpPr>
          <p:cNvPr id="151" name="Google Shape;151;p5"/>
          <p:cNvSpPr/>
          <p:nvPr/>
        </p:nvSpPr>
        <p:spPr>
          <a:xfrm>
            <a:off x="3703320" y="3751688"/>
            <a:ext cx="2103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b="0" i="0" lang="en-US" sz="1100" u="none" cap="none" strike="noStrike">
                <a:solidFill>
                  <a:srgbClr val="5D6D7E"/>
                </a:solidFill>
                <a:latin typeface="Calibri"/>
                <a:ea typeface="Calibri"/>
                <a:cs typeface="Calibri"/>
                <a:sym typeface="Calibri"/>
              </a:rPr>
              <a:t>Switches at 7PM/6AM SGT via CSS variables, re-checks every 60s</a:t>
            </a:r>
            <a:endParaRPr b="0" i="0" sz="1100" u="none" cap="none" strike="noStrike">
              <a:solidFill>
                <a:schemeClr val="dk1"/>
              </a:solidFill>
              <a:latin typeface="Calibri"/>
              <a:ea typeface="Calibri"/>
              <a:cs typeface="Calibri"/>
              <a:sym typeface="Calibri"/>
            </a:endParaRPr>
          </a:p>
        </p:txBody>
      </p:sp>
      <p:sp>
        <p:nvSpPr>
          <p:cNvPr id="152" name="Google Shape;152;p5"/>
          <p:cNvSpPr/>
          <p:nvPr/>
        </p:nvSpPr>
        <p:spPr>
          <a:xfrm>
            <a:off x="6309350" y="2974437"/>
            <a:ext cx="2469000" cy="14790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6492240" y="3157328"/>
            <a:ext cx="502800" cy="502800"/>
          </a:xfrm>
          <a:prstGeom prst="ellipse">
            <a:avLst/>
          </a:prstGeom>
          <a:solidFill>
            <a:srgbClr val="7AAF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7132320" y="3157328"/>
            <a:ext cx="146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Calibri"/>
              <a:buNone/>
            </a:pPr>
            <a:r>
              <a:rPr b="1" lang="en-US" sz="1300">
                <a:solidFill>
                  <a:srgbClr val="2C3E50"/>
                </a:solidFill>
                <a:latin typeface="Calibri"/>
                <a:ea typeface="Calibri"/>
                <a:cs typeface="Calibri"/>
                <a:sym typeface="Calibri"/>
              </a:rPr>
              <a:t>AI Campus Assistant</a:t>
            </a:r>
            <a:endParaRPr b="0" i="0" sz="1300" u="none" cap="none" strike="noStrike">
              <a:solidFill>
                <a:schemeClr val="dk1"/>
              </a:solidFill>
              <a:latin typeface="Calibri"/>
              <a:ea typeface="Calibri"/>
              <a:cs typeface="Calibri"/>
              <a:sym typeface="Calibri"/>
            </a:endParaRPr>
          </a:p>
        </p:txBody>
      </p:sp>
      <p:sp>
        <p:nvSpPr>
          <p:cNvPr id="155" name="Google Shape;155;p5"/>
          <p:cNvSpPr/>
          <p:nvPr/>
        </p:nvSpPr>
        <p:spPr>
          <a:xfrm>
            <a:off x="6492250" y="3751688"/>
            <a:ext cx="21030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6D7E"/>
              </a:buClr>
              <a:buSzPts val="1100"/>
              <a:buFont typeface="Calibri"/>
              <a:buNone/>
            </a:pPr>
            <a:r>
              <a:rPr lang="en-US" sz="1100">
                <a:solidFill>
                  <a:srgbClr val="5D6D7E"/>
                </a:solidFill>
                <a:latin typeface="Calibri"/>
                <a:ea typeface="Calibri"/>
                <a:cs typeface="Calibri"/>
                <a:sym typeface="Calibri"/>
              </a:rPr>
              <a:t>RAG-powered chatbot that reads live database occupancy to recommend study spots.</a:t>
            </a:r>
            <a:endParaRPr b="0" i="0" sz="1100" u="none" cap="none" strike="noStrike">
              <a:solidFill>
                <a:schemeClr val="dk1"/>
              </a:solidFill>
              <a:latin typeface="Calibri"/>
              <a:ea typeface="Calibri"/>
              <a:cs typeface="Calibri"/>
              <a:sym typeface="Calibri"/>
            </a:endParaRPr>
          </a:p>
        </p:txBody>
      </p:sp>
      <p:pic>
        <p:nvPicPr>
          <p:cNvPr id="156" name="Google Shape;156;p5"/>
          <p:cNvPicPr preferRelativeResize="0"/>
          <p:nvPr/>
        </p:nvPicPr>
        <p:blipFill>
          <a:blip r:embed="rId8">
            <a:alphaModFix amt="80000"/>
          </a:blip>
          <a:stretch>
            <a:fillRect/>
          </a:stretch>
        </p:blipFill>
        <p:spPr>
          <a:xfrm>
            <a:off x="6492250" y="3157388"/>
            <a:ext cx="502800" cy="502800"/>
          </a:xfrm>
          <a:prstGeom prst="ellipse">
            <a:avLst/>
          </a:prstGeom>
          <a:solidFill>
            <a:srgbClr val="7AAFB4"/>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B561"/>
        </a:solidFill>
      </p:bgPr>
    </p:bg>
    <p:spTree>
      <p:nvGrpSpPr>
        <p:cNvPr id="161" name="Shape 161"/>
        <p:cNvGrpSpPr/>
        <p:nvPr/>
      </p:nvGrpSpPr>
      <p:grpSpPr>
        <a:xfrm>
          <a:off x="0" y="0"/>
          <a:ext cx="0" cy="0"/>
          <a:chOff x="0" y="0"/>
          <a:chExt cx="0" cy="0"/>
        </a:xfrm>
      </p:grpSpPr>
      <p:sp>
        <p:nvSpPr>
          <p:cNvPr id="162" name="Google Shape;162;p6"/>
          <p:cNvSpPr/>
          <p:nvPr/>
        </p:nvSpPr>
        <p:spPr>
          <a:xfrm>
            <a:off x="0" y="4686300"/>
            <a:ext cx="9144000" cy="45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3" name="Google Shape;163;p6"/>
          <p:cNvSpPr/>
          <p:nvPr/>
        </p:nvSpPr>
        <p:spPr>
          <a:xfrm>
            <a:off x="731520" y="728475"/>
            <a:ext cx="76809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D2D5"/>
              </a:buClr>
              <a:buSzPts val="4800"/>
              <a:buFont typeface="Calibri"/>
              <a:buNone/>
            </a:pPr>
            <a:r>
              <a:rPr b="1" i="0" lang="en-US" sz="4800" u="none" cap="none" strike="noStrike">
                <a:solidFill>
                  <a:srgbClr val="3D322D"/>
                </a:solidFill>
                <a:latin typeface="Calibri"/>
                <a:ea typeface="Calibri"/>
                <a:cs typeface="Calibri"/>
                <a:sym typeface="Calibri"/>
              </a:rPr>
              <a:t>Thank You</a:t>
            </a:r>
            <a:endParaRPr b="0" i="0" sz="4800" u="none" cap="none" strike="noStrike">
              <a:solidFill>
                <a:srgbClr val="3D322D"/>
              </a:solidFill>
              <a:latin typeface="Calibri"/>
              <a:ea typeface="Calibri"/>
              <a:cs typeface="Calibri"/>
              <a:sym typeface="Calibri"/>
            </a:endParaRPr>
          </a:p>
        </p:txBody>
      </p:sp>
      <p:sp>
        <p:nvSpPr>
          <p:cNvPr id="164" name="Google Shape;164;p6"/>
          <p:cNvSpPr/>
          <p:nvPr/>
        </p:nvSpPr>
        <p:spPr>
          <a:xfrm>
            <a:off x="731520" y="1642875"/>
            <a:ext cx="7680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D7E"/>
              </a:buClr>
              <a:buSzPts val="1500"/>
              <a:buFont typeface="Calibri"/>
              <a:buNone/>
            </a:pPr>
            <a:r>
              <a:rPr b="0" i="0" lang="en-US" sz="1500" u="none" cap="none" strike="noStrike">
                <a:solidFill>
                  <a:schemeClr val="dk1"/>
                </a:solidFill>
                <a:latin typeface="Calibri"/>
                <a:ea typeface="Calibri"/>
                <a:cs typeface="Calibri"/>
                <a:sym typeface="Calibri"/>
              </a:rPr>
              <a:t>We'd love to hear your questions and feedback.</a:t>
            </a:r>
            <a:endParaRPr b="0" i="0" sz="1500" u="none" cap="none" strike="noStrike">
              <a:solidFill>
                <a:schemeClr val="dk1"/>
              </a:solidFill>
              <a:latin typeface="Calibri"/>
              <a:ea typeface="Calibri"/>
              <a:cs typeface="Calibri"/>
              <a:sym typeface="Calibri"/>
            </a:endParaRPr>
          </a:p>
        </p:txBody>
      </p:sp>
      <p:sp>
        <p:nvSpPr>
          <p:cNvPr id="165" name="Google Shape;165;p6"/>
          <p:cNvSpPr/>
          <p:nvPr/>
        </p:nvSpPr>
        <p:spPr>
          <a:xfrm>
            <a:off x="731525" y="2331350"/>
            <a:ext cx="2452500" cy="5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1F1EE"/>
              </a:buClr>
              <a:buSzPts val="1300"/>
              <a:buFont typeface="Calibri"/>
              <a:buNone/>
            </a:pPr>
            <a:r>
              <a:rPr b="1" lang="en-US" sz="1300">
                <a:solidFill>
                  <a:srgbClr val="FFFFFF"/>
                </a:solidFill>
                <a:latin typeface="Calibri"/>
                <a:ea typeface="Calibri"/>
                <a:cs typeface="Calibri"/>
                <a:sym typeface="Calibri"/>
              </a:rPr>
              <a:t>Alex, Ameer, Kimberly, Helen, Chris</a:t>
            </a:r>
            <a:endParaRPr b="1" i="0" sz="1300" u="none" cap="none" strike="noStrike">
              <a:solidFill>
                <a:srgbClr val="FFFFFF"/>
              </a:solidFill>
              <a:latin typeface="Calibri"/>
              <a:ea typeface="Calibri"/>
              <a:cs typeface="Calibri"/>
              <a:sym typeface="Calibri"/>
            </a:endParaRPr>
          </a:p>
        </p:txBody>
      </p:sp>
      <p:sp>
        <p:nvSpPr>
          <p:cNvPr id="166" name="Google Shape;166;p6"/>
          <p:cNvSpPr/>
          <p:nvPr/>
        </p:nvSpPr>
        <p:spPr>
          <a:xfrm>
            <a:off x="731520" y="3837435"/>
            <a:ext cx="7680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D2D5"/>
              </a:buClr>
              <a:buSzPts val="1300"/>
              <a:buFont typeface="Calibri"/>
              <a:buNone/>
            </a:pPr>
            <a:r>
              <a:rPr lang="en-US" sz="1300">
                <a:solidFill>
                  <a:schemeClr val="lt1"/>
                </a:solidFill>
                <a:latin typeface="Calibri"/>
                <a:ea typeface="Calibri"/>
                <a:cs typeface="Calibri"/>
                <a:sym typeface="Calibri"/>
              </a:rPr>
              <a:t>https://itc-simplify.vercel.app/</a:t>
            </a:r>
            <a:endParaRPr b="0" i="0" sz="1300" u="none" cap="none" strike="noStrike">
              <a:solidFill>
                <a:schemeClr val="lt1"/>
              </a:solidFill>
              <a:latin typeface="Calibri"/>
              <a:ea typeface="Calibri"/>
              <a:cs typeface="Calibri"/>
              <a:sym typeface="Calibri"/>
            </a:endParaRPr>
          </a:p>
        </p:txBody>
      </p:sp>
      <p:pic>
        <p:nvPicPr>
          <p:cNvPr id="167" name="Google Shape;167;p6" title="profile_cool.png"/>
          <p:cNvPicPr preferRelativeResize="0"/>
          <p:nvPr/>
        </p:nvPicPr>
        <p:blipFill>
          <a:blip r:embed="rId3">
            <a:alphaModFix/>
          </a:blip>
          <a:stretch>
            <a:fillRect/>
          </a:stretch>
        </p:blipFill>
        <p:spPr>
          <a:xfrm>
            <a:off x="5286335" y="521175"/>
            <a:ext cx="3333890" cy="3316250"/>
          </a:xfrm>
          <a:prstGeom prst="rect">
            <a:avLst/>
          </a:prstGeom>
          <a:noFill/>
          <a:ln>
            <a:noFill/>
          </a:ln>
        </p:spPr>
      </p:pic>
      <p:sp>
        <p:nvSpPr>
          <p:cNvPr id="168" name="Google Shape;168;p6"/>
          <p:cNvSpPr/>
          <p:nvPr/>
        </p:nvSpPr>
        <p:spPr>
          <a:xfrm>
            <a:off x="5172775" y="3746300"/>
            <a:ext cx="3561000" cy="7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D6D7E"/>
              </a:buClr>
              <a:buSzPts val="1500"/>
              <a:buFont typeface="Calibri"/>
              <a:buNone/>
            </a:pPr>
            <a:r>
              <a:rPr lang="en-US" sz="1500">
                <a:solidFill>
                  <a:schemeClr val="dk1"/>
                </a:solidFill>
                <a:latin typeface="Calibri"/>
                <a:ea typeface="Calibri"/>
                <a:cs typeface="Calibri"/>
                <a:sym typeface="Calibri"/>
              </a:rPr>
              <a:t>“Don’t just try hard, enjoy your life.”</a:t>
            </a:r>
            <a:endParaRPr sz="1500">
              <a:solidFill>
                <a:schemeClr val="dk1"/>
              </a:solidFill>
              <a:latin typeface="Calibri"/>
              <a:ea typeface="Calibri"/>
              <a:cs typeface="Calibri"/>
              <a:sym typeface="Calibri"/>
            </a:endParaRPr>
          </a:p>
          <a:p>
            <a:pPr indent="0" lvl="0" marL="914400" marR="0" rtl="0" algn="r">
              <a:spcBef>
                <a:spcPts val="0"/>
              </a:spcBef>
              <a:spcAft>
                <a:spcPts val="0"/>
              </a:spcAft>
              <a:buClr>
                <a:srgbClr val="5D6D7E"/>
              </a:buClr>
              <a:buSzPts val="1500"/>
              <a:buFont typeface="Calibri"/>
              <a:buNone/>
            </a:pPr>
            <a:r>
              <a:rPr b="1" lang="en-US" sz="1200">
                <a:solidFill>
                  <a:schemeClr val="dk1"/>
                </a:solidFill>
                <a:latin typeface="Calibri"/>
                <a:ea typeface="Calibri"/>
                <a:cs typeface="Calibri"/>
                <a:sym typeface="Calibri"/>
              </a:rPr>
              <a:t>— AkumaV, 2026 </a:t>
            </a:r>
            <a:endParaRPr b="1" i="0" sz="1200" u="none" cap="none" strike="noStrike">
              <a:solidFill>
                <a:schemeClr val="dk1"/>
              </a:solidFill>
              <a:latin typeface="Calibri"/>
              <a:ea typeface="Calibri"/>
              <a:cs typeface="Calibri"/>
              <a:sym typeface="Calibri"/>
            </a:endParaRPr>
          </a:p>
        </p:txBody>
      </p:sp>
      <p:sp>
        <p:nvSpPr>
          <p:cNvPr id="169" name="Google Shape;169;p6"/>
          <p:cNvSpPr txBox="1"/>
          <p:nvPr/>
        </p:nvSpPr>
        <p:spPr>
          <a:xfrm>
            <a:off x="446125" y="4737900"/>
            <a:ext cx="484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1E2A38"/>
                </a:solidFill>
                <a:latin typeface="Calibri"/>
                <a:ea typeface="Calibri"/>
                <a:cs typeface="Calibri"/>
                <a:sym typeface="Calibri"/>
              </a:rPr>
              <a:t>IT Club Internal Project |  Singapore Institute of Management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2026-03-26T06:43:56Z</dcterms:created>
  <dc:creator>SIMplify Team</dc:creator>
</cp:coreProperties>
</file>